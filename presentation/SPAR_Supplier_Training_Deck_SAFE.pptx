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428639ff-951f-bdfa-ee67-cb646988a82b}">
          <p14:sldIdLst>
            <p14:sldId id="256"/>
            <p14:sldId id="257"/>
            <p14:sldId id="258"/>
            <p14:sldId id="259"/>
          </p14:sldIdLst>
        </p14:section>
        <p14:section name="Your Role" id="{cf0a0edd-b10b-ad78-7fca-413763346f1f}">
          <p14:sldIdLst>
            <p14:sldId id="260"/>
          </p14:sldIdLst>
        </p14:section>
        <p14:section name="Key Features" id="{4b8c0541-1ac5-13e1-3e0b-0c24b3df6e13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rap-up" id="{e94637c4-9f7f-1bda-b223-45800c834224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 Sri Lanka cover slide. Welcome our supplier partners before starting.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minutes, including a live walk-through and Q&amp;A. Ask every supplier to bring their username (e.g. sup01).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same website SPAR branches use to order. As a supplier you see only your own prices, orders and purchase 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on what changes for suppliers: predictable price days, clear branch orders and a written record of every agreed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on an order looks wrong, message SPAR or call the support number. Suppliers cannot edit orders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dashboard if you can. Point out the badge on Price Approvals and the bell icon for messages.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enter three prices and submit. Outside price days or after the cutoff, the form shows "Price submission is closed right now". "Clear" only clears the form, not prices already submitted.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signature, name and the exact prices are saved together as a record of the agreement. 5 wrong passwords lock signing for 15 minutes, the same as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Excel download matches the screen: items down the side, branches across the top. Many suppliers print it for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PO carries SPAR's e-signature stamp. Branches see their own copy and check your delivery against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suppliers to check their account details today, especially the WhatsApp number and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real cycle: Monday's prices, the order and PO, then Wednesday's delivery 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predictable price days, less admin, signed agreements and clear branch 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starting passwords privately, then have each supplier change it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suppliers to use the Messages tab first so questions are in writing; call for anything urgent on a price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to prepare for:
• "Can I send prices on a Tuesday?" No. Price days are Monday, Wednesday and Friday, before the cutoff.
• "I made a mistake in a price." Submit it again before the cutoff; it replaces the old price.
• "What if I don't sign an adjusted price sheet?" If you don't respond before the delivery date, your own submitted prices apply.
• "Why can't I see an order?" Orders appear once SPAR places them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our supplier partners for attending.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5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C80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5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jp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4-5.png"/><Relationship Id="rId6" Type="http://schemas.openxmlformats.org/officeDocument/2006/relationships/image" Target="../media/image-3-6.png"/><Relationship Id="rId7" Type="http://schemas.openxmlformats.org/officeDocument/2006/relationships/image" Target="../media/image-4-7.png"/><Relationship Id="rId8" Type="http://schemas.openxmlformats.org/officeDocument/2006/relationships/image" Target="../media/image-10-5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3-6.png"/><Relationship Id="rId9" Type="http://schemas.openxmlformats.org/officeDocument/2006/relationships/image" Target="../media/image-10-5.png"/><Relationship Id="rId10" Type="http://schemas.openxmlformats.org/officeDocument/2006/relationships/image" Target="../media/image-11-6.png"/><Relationship Id="rId11" Type="http://schemas.openxmlformats.org/officeDocument/2006/relationships/image" Target="../media/image-11-7.png"/><Relationship Id="rId12" Type="http://schemas.openxmlformats.org/officeDocument/2006/relationships/image" Target="../media/image-11-5.png"/><Relationship Id="rId13" Type="http://schemas.openxmlformats.org/officeDocument/2006/relationships/image" Target="../media/image-6-13.jpg"/><Relationship Id="rId14" Type="http://schemas.openxmlformats.org/officeDocument/2006/relationships/image" Target="../media/image-10-10.png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7-5.png"/><Relationship Id="rId6" Type="http://schemas.openxmlformats.org/officeDocument/2006/relationships/image" Target="../media/image-7-6.jpg"/><Relationship Id="rId7" Type="http://schemas.openxmlformats.org/officeDocument/2006/relationships/image" Target="../media/image-10-10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8-5.png"/><Relationship Id="rId6" Type="http://schemas.openxmlformats.org/officeDocument/2006/relationships/image" Target="../media/image-10-7.png"/><Relationship Id="rId7" Type="http://schemas.openxmlformats.org/officeDocument/2006/relationships/image" Target="../media/image-4-7.png"/><Relationship Id="rId8" Type="http://schemas.openxmlformats.org/officeDocument/2006/relationships/image" Target="../media/image-10-10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6.png"/><Relationship Id="rId6" Type="http://schemas.openxmlformats.org/officeDocument/2006/relationships/image" Target="../media/image-4-5.png"/><Relationship Id="rId7" Type="http://schemas.openxmlformats.org/officeDocument/2006/relationships/image" Target="../media/image-10-7.png"/><Relationship Id="rId8" Type="http://schemas.openxmlformats.org/officeDocument/2006/relationships/image" Target="../media/image-3-7.png"/><Relationship Id="rId9" Type="http://schemas.openxmlformats.org/officeDocument/2006/relationships/image" Target="../media/image-9-9.jp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jp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jpg"/><Relationship Id="rId9" Type="http://schemas.openxmlformats.org/officeDocument/2006/relationships/image" Target="../media/image-10-10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4-5.png"/><Relationship Id="rId6" Type="http://schemas.openxmlformats.org/officeDocument/2006/relationships/image" Target="../media/image-10-1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1-6.png"/><Relationship Id="rId6" Type="http://schemas.openxmlformats.org/officeDocument/2006/relationships/image" Target="../media/image-11-7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4" name="Title panel"/>
          <p:cNvSpPr/>
          <p:nvPr/>
        </p:nvSpPr>
        <p:spPr>
          <a:xfrm>
            <a:off x="274320" y="1234440"/>
            <a:ext cx="7315200" cy="4206240"/>
          </a:xfrm>
          <a:prstGeom prst="roundRect">
            <a:avLst>
              <a:gd name="adj" fmla="val 4348"/>
            </a:avLst>
          </a:prstGeom>
          <a:solidFill>
            <a:schemeClr val="tx2">
              <a:alpha val="70000"/>
            </a:schemeClr>
          </a:solidFill>
          <a:ln/>
        </p:spPr>
      </p:sp>
      <p:sp>
        <p:nvSpPr>
          <p:cNvPr id="5" name="Text 1"/>
          <p:cNvSpPr txBox="1"/>
          <p:nvPr/>
        </p:nvSpPr>
        <p:spPr>
          <a:xfrm>
            <a:off x="548640" y="1463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SPAR SRI LANKA  ·  FRESH PROCUREMENT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Fruit &amp; Vegetable Procurement System: Supplier Training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1"/>
                </a:solidFill>
              </a:rPr>
              <a:t>Partnering for Fresher Supply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54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[Your name], SPAR Fresh Procurement   ·   [Training date]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is this system?</a:t>
            </a:r>
            <a:endParaRPr lang="en-US" sz="3400" dirty="0"/>
          </a:p>
        </p:txBody>
      </p:sp>
      <p:sp>
        <p:nvSpPr>
          <p:cNvPr id="7" name="Point card 1"/>
          <p:cNvSpPr/>
          <p:nvPr/>
        </p:nvSpPr>
        <p:spPr>
          <a:xfrm>
            <a:off x="548640" y="15087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oint 1 circle"/>
          <p:cNvSpPr/>
          <p:nvPr/>
        </p:nvSpPr>
        <p:spPr>
          <a:xfrm>
            <a:off x="777240" y="17099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Point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1885493"/>
            <a:ext cx="380390" cy="380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16733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Quote your prices online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Send SPAR your fruit and vegetable prices on price days, from any browser.</a:t>
            </a:r>
            <a:endParaRPr lang="en-US" sz="1500" dirty="0"/>
          </a:p>
        </p:txBody>
      </p:sp>
      <p:sp>
        <p:nvSpPr>
          <p:cNvPr id="11" name="Point card 2"/>
          <p:cNvSpPr/>
          <p:nvPr/>
        </p:nvSpPr>
        <p:spPr>
          <a:xfrm>
            <a:off x="548640" y="28803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Point 2 circle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Point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3736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See exactly what to deliver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Orders arrive broken down by branch: which item, how much, where.</a:t>
            </a:r>
            <a:endParaRPr lang="en-US" sz="1500" dirty="0"/>
          </a:p>
        </p:txBody>
      </p:sp>
      <p:sp>
        <p:nvSpPr>
          <p:cNvPr id="15" name="Point card 3"/>
          <p:cNvSpPr/>
          <p:nvPr/>
        </p:nvSpPr>
        <p:spPr>
          <a:xfrm>
            <a:off x="548640" y="42519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Point 3 circle"/>
          <p:cNvSpPr/>
          <p:nvPr/>
        </p:nvSpPr>
        <p:spPr>
          <a:xfrm>
            <a:off x="777240" y="44531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Point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628693"/>
            <a:ext cx="380390" cy="38039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37360" y="44165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Agreed prices on record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Price changes, approvals and purchase orders are all saved and signed.</a:t>
            </a:r>
            <a:endParaRPr lang="en-US" sz="1500" dirty="0"/>
          </a:p>
        </p:txBody>
      </p:sp>
      <p:pic>
        <p:nvPicPr>
          <p:cNvPr id="19" name="Screenshot: SPAR Fresh Procurement sign-in screen" descr="SPAR Fresh Procurement sign-in scree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508760"/>
            <a:ext cx="4599432" cy="3886200"/>
          </a:xfrm>
          <a:prstGeom prst="rect">
            <a:avLst/>
          </a:prstGeom>
        </p:spPr>
      </p:pic>
      <p:sp>
        <p:nvSpPr>
          <p:cNvPr id="20" name="Screenshot frame"/>
          <p:cNvSpPr/>
          <p:nvPr/>
        </p:nvSpPr>
        <p:spPr>
          <a:xfrm>
            <a:off x="7040880" y="1508760"/>
            <a:ext cx="4599432" cy="38862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are we moving to it?</a:t>
            </a:r>
            <a:endParaRPr lang="en-US" sz="3400" dirty="0"/>
          </a:p>
        </p:txBody>
      </p:sp>
      <p:sp>
        <p:nvSpPr>
          <p:cNvPr id="7" name="Reason card 1"/>
          <p:cNvSpPr/>
          <p:nvPr/>
        </p:nvSpPr>
        <p:spPr>
          <a:xfrm>
            <a:off x="548640" y="150876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Reason 1 circle"/>
          <p:cNvSpPr/>
          <p:nvPr/>
        </p:nvSpPr>
        <p:spPr>
          <a:xfrm>
            <a:off x="868680" y="182880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Reason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7163" y="2037283"/>
            <a:ext cx="451714" cy="45171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011680" y="182880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Fixed price days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Prices are sent on Monday, Wednesday and Friday, before one daily cutoff.</a:t>
            </a:r>
            <a:endParaRPr lang="en-US" sz="1500" dirty="0"/>
          </a:p>
        </p:txBody>
      </p:sp>
      <p:sp>
        <p:nvSpPr>
          <p:cNvPr id="11" name="Reason card 2"/>
          <p:cNvSpPr/>
          <p:nvPr/>
        </p:nvSpPr>
        <p:spPr>
          <a:xfrm>
            <a:off x="6190488" y="150876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Reason 2 circle"/>
          <p:cNvSpPr/>
          <p:nvPr/>
        </p:nvSpPr>
        <p:spPr>
          <a:xfrm>
            <a:off x="6510528" y="182880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Reason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011" y="2037283"/>
            <a:ext cx="451714" cy="45171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653528" y="182880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Clear orders by branch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No more guessing from calls and messages: every branch's quantity is listed.</a:t>
            </a:r>
            <a:endParaRPr lang="en-US" sz="1500" dirty="0"/>
          </a:p>
        </p:txBody>
      </p:sp>
      <p:sp>
        <p:nvSpPr>
          <p:cNvPr id="15" name="Reason card 3"/>
          <p:cNvSpPr/>
          <p:nvPr/>
        </p:nvSpPr>
        <p:spPr>
          <a:xfrm>
            <a:off x="548640" y="365760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Reason 3 circle"/>
          <p:cNvSpPr/>
          <p:nvPr/>
        </p:nvSpPr>
        <p:spPr>
          <a:xfrm>
            <a:off x="868680" y="397764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Reason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7163" y="4186123"/>
            <a:ext cx="451714" cy="45171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011680" y="397764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Signed, agreed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When SPAR adjusts a price, you approve and sign it, so both sides agree.</a:t>
            </a:r>
            <a:endParaRPr lang="en-US" sz="1500" dirty="0"/>
          </a:p>
        </p:txBody>
      </p:sp>
      <p:sp>
        <p:nvSpPr>
          <p:cNvPr id="19" name="Reason card 4"/>
          <p:cNvSpPr/>
          <p:nvPr/>
        </p:nvSpPr>
        <p:spPr>
          <a:xfrm>
            <a:off x="6190488" y="365760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Reason 4 circle"/>
          <p:cNvSpPr/>
          <p:nvPr/>
        </p:nvSpPr>
        <p:spPr>
          <a:xfrm>
            <a:off x="6510528" y="397764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1" name="Reason 4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9011" y="4186123"/>
            <a:ext cx="451714" cy="45171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653528" y="397764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Everything in one place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Purchase orders, messages and your account details, always up to 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role as a supplier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Your job: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quote your prices on time, confirm any price SPAR adjusts, then deliver each branch's order.</a:t>
            </a:r>
            <a:endParaRPr lang="en-US" sz="1700" dirty="0"/>
          </a:p>
        </p:txBody>
      </p:sp>
      <p:sp>
        <p:nvSpPr>
          <p:cNvPr id="8" name="You CAN card"/>
          <p:cNvSpPr/>
          <p:nvPr/>
        </p:nvSpPr>
        <p:spPr>
          <a:xfrm>
            <a:off x="548640" y="1783080"/>
            <a:ext cx="5422392" cy="3931920"/>
          </a:xfrm>
          <a:prstGeom prst="roundRect">
            <a:avLst>
              <a:gd name="adj" fmla="val 279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You CA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2"/>
                </a:solidFill>
              </a:rPr>
              <a:t>You CAN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606040"/>
            <a:ext cx="48737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prices on Monday, Wednesday and Friday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Update a price again before the cutoff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the prices you submitted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Approve or reject prices SPAR adjusts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your orders by branch and download them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View and print your purchase orders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Message SPAR and update your details</a:t>
            </a:r>
            <a:endParaRPr lang="en-US" sz="1500" dirty="0"/>
          </a:p>
        </p:txBody>
      </p:sp>
      <p:sp>
        <p:nvSpPr>
          <p:cNvPr id="12" name="You CANNOT card"/>
          <p:cNvSpPr/>
          <p:nvPr/>
        </p:nvSpPr>
        <p:spPr>
          <a:xfrm>
            <a:off x="6190488" y="1783080"/>
            <a:ext cx="5422392" cy="3931920"/>
          </a:xfrm>
          <a:prstGeom prst="roundRect">
            <a:avLst>
              <a:gd name="adj" fmla="val 279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You CANNO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201168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67728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You CANNOT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6510528" y="2606040"/>
            <a:ext cx="48737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after the cutoff (12:00 PM by default)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on other days of the week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other suppliers' prices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Change an order or purchase order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Change products, units or the cutoff time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Open Admin or branch screens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bg2"/>
                </a:solidFill>
              </a:rPr>
              <a:t>One login per supplier (e.g. sup01 for Bloomax). You only ever see your own prices and orders.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dashboard at a glance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After you sign in, a short welcome screen opens your Supplier Dashboard. The menu on the left has eight tabs:</a:t>
            </a:r>
            <a:endParaRPr lang="en-US" sz="1600" dirty="0"/>
          </a:p>
        </p:txBody>
      </p:sp>
      <p:sp>
        <p:nvSpPr>
          <p:cNvPr id="8" name="Tab card Submit Prices"/>
          <p:cNvSpPr/>
          <p:nvPr/>
        </p:nvSpPr>
        <p:spPr>
          <a:xfrm>
            <a:off x="548640" y="17830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ab Submit Prices circle"/>
          <p:cNvSpPr/>
          <p:nvPr/>
        </p:nvSpPr>
        <p:spPr>
          <a:xfrm>
            <a:off x="685800" y="19019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Tab Submit Price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2033626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18745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Quote prices for the next cycle</a:t>
            </a:r>
            <a:endParaRPr lang="en-US" sz="1500" dirty="0"/>
          </a:p>
        </p:txBody>
      </p:sp>
      <p:sp>
        <p:nvSpPr>
          <p:cNvPr id="12" name="Tab card My Submitted Prices"/>
          <p:cNvSpPr/>
          <p:nvPr/>
        </p:nvSpPr>
        <p:spPr>
          <a:xfrm>
            <a:off x="3858768" y="17830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ab My Submitted Prices circle"/>
          <p:cNvSpPr/>
          <p:nvPr/>
        </p:nvSpPr>
        <p:spPr>
          <a:xfrm>
            <a:off x="3995928" y="19019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Tab My Submitted Pric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7602" y="2033626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81728" y="18745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My Submitted Prices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Check what you quoted</a:t>
            </a:r>
            <a:endParaRPr lang="en-US" sz="1500" dirty="0"/>
          </a:p>
        </p:txBody>
      </p:sp>
      <p:sp>
        <p:nvSpPr>
          <p:cNvPr id="16" name="Tab card Price Approvals"/>
          <p:cNvSpPr/>
          <p:nvPr/>
        </p:nvSpPr>
        <p:spPr>
          <a:xfrm>
            <a:off x="548640" y="26974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ab Price Approvals circle"/>
          <p:cNvSpPr/>
          <p:nvPr/>
        </p:nvSpPr>
        <p:spPr>
          <a:xfrm>
            <a:off x="685800" y="28163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8" name="Tab Price Approval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474" y="2948026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71600" y="27889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Price Approvals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Sign prices SPAR adjusted</a:t>
            </a:r>
            <a:endParaRPr lang="en-US" sz="1500" dirty="0"/>
          </a:p>
        </p:txBody>
      </p:sp>
      <p:sp>
        <p:nvSpPr>
          <p:cNvPr id="20" name="Tab card Orders by Branch"/>
          <p:cNvSpPr/>
          <p:nvPr/>
        </p:nvSpPr>
        <p:spPr>
          <a:xfrm>
            <a:off x="3858768" y="26974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ab Orders by Branch circle"/>
          <p:cNvSpPr/>
          <p:nvPr/>
        </p:nvSpPr>
        <p:spPr>
          <a:xfrm>
            <a:off x="3995928" y="28163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Tab Orders by Branch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7602" y="2948026"/>
            <a:ext cx="285293" cy="285293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681728" y="27889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Orders by Branch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What each branch needs</a:t>
            </a:r>
            <a:endParaRPr lang="en-US" sz="1500" dirty="0"/>
          </a:p>
        </p:txBody>
      </p:sp>
      <p:sp>
        <p:nvSpPr>
          <p:cNvPr id="24" name="Tab card Purchase Orders"/>
          <p:cNvSpPr/>
          <p:nvPr/>
        </p:nvSpPr>
        <p:spPr>
          <a:xfrm>
            <a:off x="548640" y="36118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ab Purchase Orders circle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6" name="Tab Purchase Orders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4" y="3862426"/>
            <a:ext cx="285293" cy="285293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371600" y="37033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Purchase Orders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View and print your POs</a:t>
            </a:r>
            <a:endParaRPr lang="en-US" sz="1500" dirty="0"/>
          </a:p>
        </p:txBody>
      </p:sp>
      <p:sp>
        <p:nvSpPr>
          <p:cNvPr id="28" name="Tab card Messages"/>
          <p:cNvSpPr/>
          <p:nvPr/>
        </p:nvSpPr>
        <p:spPr>
          <a:xfrm>
            <a:off x="3858768" y="36118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Tab Messages circle"/>
          <p:cNvSpPr/>
          <p:nvPr/>
        </p:nvSpPr>
        <p:spPr>
          <a:xfrm>
            <a:off x="3995928" y="37307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0" name="Tab Messages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602" y="3862426"/>
            <a:ext cx="285293" cy="285293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681728" y="37033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Messages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Chat with SPAR</a:t>
            </a:r>
            <a:endParaRPr lang="en-US" sz="1500" dirty="0"/>
          </a:p>
        </p:txBody>
      </p:sp>
      <p:sp>
        <p:nvSpPr>
          <p:cNvPr id="32" name="Tab card Supplier Guidelines"/>
          <p:cNvSpPr/>
          <p:nvPr/>
        </p:nvSpPr>
        <p:spPr>
          <a:xfrm>
            <a:off x="548640" y="45262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ab Supplier Guidelines circle"/>
          <p:cNvSpPr/>
          <p:nvPr/>
        </p:nvSpPr>
        <p:spPr>
          <a:xfrm>
            <a:off x="685800" y="46451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4" name="Tab Supplier Guidelines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474" y="4776826"/>
            <a:ext cx="285293" cy="285293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371600" y="46177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Supplier Guidelines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The rules, Sinhala and English</a:t>
            </a:r>
            <a:endParaRPr lang="en-US" sz="1500" dirty="0"/>
          </a:p>
        </p:txBody>
      </p:sp>
      <p:sp>
        <p:nvSpPr>
          <p:cNvPr id="36" name="Tab card Account"/>
          <p:cNvSpPr/>
          <p:nvPr/>
        </p:nvSpPr>
        <p:spPr>
          <a:xfrm>
            <a:off x="3858768" y="45262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ab Account circle"/>
          <p:cNvSpPr/>
          <p:nvPr/>
        </p:nvSpPr>
        <p:spPr>
          <a:xfrm>
            <a:off x="3995928" y="46451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8" name="Tab Account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602" y="4776826"/>
            <a:ext cx="285293" cy="285293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4681728" y="46177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Account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Your company details</a:t>
            </a:r>
            <a:endParaRPr lang="en-US" sz="1500" dirty="0"/>
          </a:p>
        </p:txBody>
      </p:sp>
      <p:pic>
        <p:nvPicPr>
          <p:cNvPr id="40" name="Screenshot: Supplier Dashboard with the eight tabs" descr="Supplier Dashboard with the eight tab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06640" y="1783080"/>
            <a:ext cx="4233672" cy="3529584"/>
          </a:xfrm>
          <a:prstGeom prst="rect">
            <a:avLst/>
          </a:prstGeom>
        </p:spPr>
      </p:pic>
      <p:sp>
        <p:nvSpPr>
          <p:cNvPr id="41" name="Screenshot frame"/>
          <p:cNvSpPr/>
          <p:nvPr/>
        </p:nvSpPr>
        <p:spPr>
          <a:xfrm>
            <a:off x="7406640" y="1783080"/>
            <a:ext cx="4233672" cy="3529584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2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3" name="Benefit ic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Prices, approvals, orders and purchase orders, all in one place.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Submitting your prices</a:t>
            </a:r>
            <a:endParaRPr lang="en-US" sz="3400" dirty="0"/>
          </a:p>
        </p:txBody>
      </p:sp>
      <p:sp>
        <p:nvSpPr>
          <p:cNvPr id="7" name="Step card 1"/>
          <p:cNvSpPr/>
          <p:nvPr/>
        </p:nvSpPr>
        <p:spPr>
          <a:xfrm>
            <a:off x="548640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Open Submit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top line shows the delivery date and today's closing time.</a:t>
            </a:r>
            <a:endParaRPr lang="en-US" sz="1500" dirty="0"/>
          </a:p>
        </p:txBody>
      </p:sp>
      <p:sp>
        <p:nvSpPr>
          <p:cNvPr id="10" name="Step card 2"/>
          <p:cNvSpPr/>
          <p:nvPr/>
        </p:nvSpPr>
        <p:spPr>
          <a:xfrm>
            <a:off x="3355848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84448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3584448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Enter your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Type a Rs. price for each item you can supply. Your last price is shown under each item.</a:t>
            </a:r>
            <a:endParaRPr lang="en-US" sz="1500" dirty="0"/>
          </a:p>
        </p:txBody>
      </p:sp>
      <p:sp>
        <p:nvSpPr>
          <p:cNvPr id="13" name="Step card 3"/>
          <p:cNvSpPr/>
          <p:nvPr/>
        </p:nvSpPr>
        <p:spPr>
          <a:xfrm>
            <a:off x="6163056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91656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6391656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Sends them to SPAR. You'll see "Prices submitted successfully".</a:t>
            </a:r>
            <a:endParaRPr lang="en-US" sz="1500" dirty="0"/>
          </a:p>
        </p:txBody>
      </p:sp>
      <p:sp>
        <p:nvSpPr>
          <p:cNvPr id="16" name="Step card 4"/>
          <p:cNvSpPr/>
          <p:nvPr/>
        </p:nvSpPr>
        <p:spPr>
          <a:xfrm>
            <a:off x="8970264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98864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8" name="Text 14"/>
          <p:cNvSpPr txBox="1"/>
          <p:nvPr/>
        </p:nvSpPr>
        <p:spPr>
          <a:xfrm>
            <a:off x="9198864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Need a change?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Submit again before the cutoff. It updates the price, no duplicates.</a:t>
            </a:r>
            <a:endParaRPr lang="en-US" sz="1500" dirty="0"/>
          </a:p>
        </p:txBody>
      </p:sp>
      <p:sp>
        <p:nvSpPr>
          <p:cNvPr id="19" name="Price day rule card"/>
          <p:cNvSpPr/>
          <p:nvPr/>
        </p:nvSpPr>
        <p:spPr>
          <a:xfrm>
            <a:off x="548640" y="3840480"/>
            <a:ext cx="6035040" cy="1554480"/>
          </a:xfrm>
          <a:prstGeom prst="roundRect">
            <a:avLst>
              <a:gd name="adj" fmla="val 7059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Price day circle"/>
          <p:cNvSpPr/>
          <p:nvPr/>
        </p:nvSpPr>
        <p:spPr>
          <a:xfrm>
            <a:off x="777240" y="404164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21" name="Price d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217213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737360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Key rule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Monday, Wednesday and Friday only, before 12:00 PM (default). Prices apply to delivery two days later.</a:t>
            </a:r>
            <a:endParaRPr lang="en-US" sz="1500" dirty="0"/>
          </a:p>
        </p:txBody>
      </p:sp>
      <p:pic>
        <p:nvPicPr>
          <p:cNvPr id="23" name="Screenshot: Submit Prices form: last price shown, photo on hover" descr="Submit Prices form: last price shown, photo on ho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840480"/>
            <a:ext cx="4828032" cy="1554480"/>
          </a:xfrm>
          <a:prstGeom prst="rect">
            <a:avLst/>
          </a:prstGeom>
        </p:spPr>
      </p:pic>
      <p:sp>
        <p:nvSpPr>
          <p:cNvPr id="24" name="Screenshot frame"/>
          <p:cNvSpPr/>
          <p:nvPr/>
        </p:nvSpPr>
        <p:spPr>
          <a:xfrm>
            <a:off x="6812280" y="3840480"/>
            <a:ext cx="4828032" cy="155448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5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Benefi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Quick to fill in, your last price as a guide, and easy to correct before the cutoff.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When SPAR adjusts your prices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If SPAR negotiates a different price, it sends you a price sheet to approve:</a:t>
            </a:r>
            <a:endParaRPr lang="en-US" sz="1600" dirty="0"/>
          </a:p>
        </p:txBody>
      </p:sp>
      <p:sp>
        <p:nvSpPr>
          <p:cNvPr id="8" name="Approval step 1"/>
          <p:cNvSpPr/>
          <p:nvPr/>
        </p:nvSpPr>
        <p:spPr>
          <a:xfrm>
            <a:off x="5486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Approval step 1 circle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Approval step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2176272"/>
            <a:ext cx="356616" cy="35661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You're notified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772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banner and a badge on Price Approvals show a sheet waiting for you.</a:t>
            </a:r>
            <a:endParaRPr lang="en-US" sz="1500" dirty="0"/>
          </a:p>
        </p:txBody>
      </p:sp>
      <p:sp>
        <p:nvSpPr>
          <p:cNvPr id="13" name="Arrow 1"/>
          <p:cNvSpPr/>
          <p:nvPr/>
        </p:nvSpPr>
        <p:spPr>
          <a:xfrm>
            <a:off x="3959352" y="2880360"/>
            <a:ext cx="402336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Approval step 2"/>
          <p:cNvSpPr/>
          <p:nvPr/>
        </p:nvSpPr>
        <p:spPr>
          <a:xfrm>
            <a:off x="44348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Approval step 2 circle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6" name="Approval step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17627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Review the sheet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6634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It lists each adjusted item, your price and SPAR's price.</a:t>
            </a:r>
            <a:endParaRPr lang="en-US" sz="1500" dirty="0"/>
          </a:p>
        </p:txBody>
      </p:sp>
      <p:sp>
        <p:nvSpPr>
          <p:cNvPr id="19" name="Arrow 2"/>
          <p:cNvSpPr/>
          <p:nvPr/>
        </p:nvSpPr>
        <p:spPr>
          <a:xfrm>
            <a:off x="7845552" y="2880360"/>
            <a:ext cx="402336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Approval step 3"/>
          <p:cNvSpPr/>
          <p:nvPr/>
        </p:nvSpPr>
        <p:spPr>
          <a:xfrm>
            <a:off x="83210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1" name="Approval step 3 circle"/>
          <p:cNvSpPr/>
          <p:nvPr/>
        </p:nvSpPr>
        <p:spPr>
          <a:xfrm>
            <a:off x="85496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Approval step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4232" y="2176272"/>
            <a:ext cx="356616" cy="3566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3726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&amp; sign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85496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Tick the agreement, type your name, draw your signature, re-enter your password.</a:t>
            </a:r>
            <a:endParaRPr lang="en-US" sz="1500" dirty="0"/>
          </a:p>
        </p:txBody>
      </p:sp>
      <p:sp>
        <p:nvSpPr>
          <p:cNvPr id="25" name="Reject card"/>
          <p:cNvSpPr/>
          <p:nvPr/>
        </p:nvSpPr>
        <p:spPr>
          <a:xfrm>
            <a:off x="548640" y="420624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42062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Don't agree?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Click Reject and give a reason. SPAR will review it and may send a new sheet.</a:t>
            </a:r>
            <a:endParaRPr lang="en-US" sz="1500" dirty="0"/>
          </a:p>
        </p:txBody>
      </p:sp>
      <p:sp>
        <p:nvSpPr>
          <p:cNvPr id="27" name="No reply card"/>
          <p:cNvSpPr/>
          <p:nvPr/>
        </p:nvSpPr>
        <p:spPr>
          <a:xfrm>
            <a:off x="6263640" y="4206240"/>
            <a:ext cx="5379415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37960" y="4206240"/>
            <a:ext cx="4830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No reply?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Respond before the delivery date. If you don't, your own submitted prices apply.</a:t>
            </a:r>
            <a:endParaRPr lang="en-US" sz="1500" dirty="0"/>
          </a:p>
        </p:txBody>
      </p:sp>
      <p:sp>
        <p:nvSpPr>
          <p:cNvPr id="29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Benefit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Every agreed price is signed and saved, so there are no disputes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Orders by Branch</a:t>
            </a:r>
            <a:endParaRPr lang="en-US" sz="3400" dirty="0"/>
          </a:p>
        </p:txBody>
      </p:sp>
      <p:sp>
        <p:nvSpPr>
          <p:cNvPr id="7" name="Orders explanation card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Orders by branch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Orders by branch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" y="188915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74520" y="16459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Once SPAR places an order with you, it appears here: one row per item, one column per branch, with the quantity each branch needs.</a:t>
            </a:r>
            <a:endParaRPr lang="en-US" sz="1600" dirty="0"/>
          </a:p>
        </p:txBody>
      </p:sp>
      <p:sp>
        <p:nvSpPr>
          <p:cNvPr id="11" name="Orders action Pick"/>
          <p:cNvSpPr/>
          <p:nvPr/>
        </p:nvSpPr>
        <p:spPr>
          <a:xfrm>
            <a:off x="54864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Orders action icon Pi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023360"/>
            <a:ext cx="493776" cy="4937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Pick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delivery date</a:t>
            </a:r>
            <a:endParaRPr lang="en-US" sz="1500" dirty="0"/>
          </a:p>
        </p:txBody>
      </p:sp>
      <p:sp>
        <p:nvSpPr>
          <p:cNvPr id="14" name="Orders action Check"/>
          <p:cNvSpPr/>
          <p:nvPr/>
        </p:nvSpPr>
        <p:spPr>
          <a:xfrm>
            <a:off x="242316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Orders action icon Check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9232" y="4023360"/>
            <a:ext cx="493776" cy="49377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51460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Check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each branch's quantity</a:t>
            </a:r>
            <a:endParaRPr lang="en-US" sz="1500" dirty="0"/>
          </a:p>
        </p:txBody>
      </p:sp>
      <p:sp>
        <p:nvSpPr>
          <p:cNvPr id="17" name="Orders action Download"/>
          <p:cNvSpPr/>
          <p:nvPr/>
        </p:nvSpPr>
        <p:spPr>
          <a:xfrm>
            <a:off x="429768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Orders action icon Download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4023360"/>
            <a:ext cx="493776" cy="49377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38912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Download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as Excel</a:t>
            </a:r>
            <a:endParaRPr lang="en-US" sz="1500" dirty="0"/>
          </a:p>
        </p:txBody>
      </p:sp>
      <p:pic>
        <p:nvPicPr>
          <p:cNvPr id="20" name="Screenshot: Orders by Branch table for one delivery date" descr="Orders by Branch table for one delivery da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912" y="1417320"/>
            <a:ext cx="5486400" cy="2176272"/>
          </a:xfrm>
          <a:prstGeom prst="rect">
            <a:avLst/>
          </a:prstGeom>
        </p:spPr>
      </p:pic>
      <p:sp>
        <p:nvSpPr>
          <p:cNvPr id="21" name="Screenshot frame"/>
          <p:cNvSpPr/>
          <p:nvPr/>
        </p:nvSpPr>
        <p:spPr>
          <a:xfrm>
            <a:off x="6153912" y="1417320"/>
            <a:ext cx="5486400" cy="2176272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2" name="Orders reading card"/>
          <p:cNvSpPr/>
          <p:nvPr/>
        </p:nvSpPr>
        <p:spPr>
          <a:xfrm>
            <a:off x="6153912" y="3794760"/>
            <a:ext cx="548640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6428232" y="37947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Reading the table: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the top line shows the number of stores, items and the total order value. Highlighted cells show which branch ordered what; the Total column is what you load.</a:t>
            </a:r>
            <a:endParaRPr lang="en-US" sz="1500" dirty="0"/>
          </a:p>
        </p:txBody>
      </p:sp>
      <p:sp>
        <p:nvSpPr>
          <p:cNvPr id="24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Benefit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Pack and load for each branch straight from the list, with no phone calls to check.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Purchase Orders</a:t>
            </a:r>
            <a:endParaRPr lang="en-US" sz="3400" dirty="0"/>
          </a:p>
        </p:txBody>
      </p:sp>
      <p:sp>
        <p:nvSpPr>
          <p:cNvPr id="7" name="PO explanation card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urchase order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Purchase order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" y="188915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74520" y="16459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When SPAR issues you a purchase order, it appears here with the delivery date, the branches, the items and the agreed prices.</a:t>
            </a:r>
            <a:endParaRPr lang="en-US" sz="1600" dirty="0"/>
          </a:p>
        </p:txBody>
      </p:sp>
      <p:sp>
        <p:nvSpPr>
          <p:cNvPr id="11" name="PO action Search"/>
          <p:cNvSpPr/>
          <p:nvPr/>
        </p:nvSpPr>
        <p:spPr>
          <a:xfrm>
            <a:off x="54864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PO action icon Search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023360"/>
            <a:ext cx="493776" cy="4937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Search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the list</a:t>
            </a:r>
            <a:endParaRPr lang="en-US" sz="1500" dirty="0"/>
          </a:p>
        </p:txBody>
      </p:sp>
      <p:sp>
        <p:nvSpPr>
          <p:cNvPr id="14" name="PO action Open"/>
          <p:cNvSpPr/>
          <p:nvPr/>
        </p:nvSpPr>
        <p:spPr>
          <a:xfrm>
            <a:off x="242316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PO action icon Ope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9232" y="4023360"/>
            <a:ext cx="493776" cy="49377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51460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Open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PO</a:t>
            </a:r>
            <a:endParaRPr lang="en-US" sz="1500" dirty="0"/>
          </a:p>
        </p:txBody>
      </p:sp>
      <p:sp>
        <p:nvSpPr>
          <p:cNvPr id="17" name="PO action Print"/>
          <p:cNvSpPr/>
          <p:nvPr/>
        </p:nvSpPr>
        <p:spPr>
          <a:xfrm>
            <a:off x="429768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PO action icon Print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4023360"/>
            <a:ext cx="493776" cy="49377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38912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Print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or save as PDF</a:t>
            </a:r>
            <a:endParaRPr lang="en-US" sz="1500" dirty="0"/>
          </a:p>
        </p:txBody>
      </p:sp>
      <p:pic>
        <p:nvPicPr>
          <p:cNvPr id="20" name="Screenshot: An opened purchase order, approved and e-signed by SPAR" descr="An opened purchase order, approved and e-signed by SP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912" y="1852574"/>
            <a:ext cx="5486400" cy="3107131"/>
          </a:xfrm>
          <a:prstGeom prst="rect">
            <a:avLst/>
          </a:prstGeom>
        </p:spPr>
      </p:pic>
      <p:sp>
        <p:nvSpPr>
          <p:cNvPr id="21" name="Screenshot frame"/>
          <p:cNvSpPr/>
          <p:nvPr/>
        </p:nvSpPr>
        <p:spPr>
          <a:xfrm>
            <a:off x="6153912" y="1852574"/>
            <a:ext cx="5486400" cy="3107131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2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Benefit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An official, e-signed order for every delivery, ready to print and send with your goods.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account and messages</a:t>
            </a:r>
            <a:endParaRPr lang="en-US" sz="3400" dirty="0"/>
          </a:p>
        </p:txBody>
      </p:sp>
      <p:sp>
        <p:nvSpPr>
          <p:cNvPr id="7" name="Account card Account"/>
          <p:cNvSpPr/>
          <p:nvPr/>
        </p:nvSpPr>
        <p:spPr>
          <a:xfrm>
            <a:off x="548640" y="146304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Account Account circle"/>
          <p:cNvSpPr/>
          <p:nvPr/>
        </p:nvSpPr>
        <p:spPr>
          <a:xfrm>
            <a:off x="777240" y="166420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Account Accoun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1839773"/>
            <a:ext cx="380390" cy="380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1600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Account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Keep your supplier name, company number, WhatsApp number and email up to date, then Save.</a:t>
            </a:r>
            <a:endParaRPr lang="en-US" sz="1500" dirty="0"/>
          </a:p>
        </p:txBody>
      </p:sp>
      <p:sp>
        <p:nvSpPr>
          <p:cNvPr id="11" name="Account card Messages"/>
          <p:cNvSpPr/>
          <p:nvPr/>
        </p:nvSpPr>
        <p:spPr>
          <a:xfrm>
            <a:off x="548640" y="278892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Account Messages circle"/>
          <p:cNvSpPr/>
          <p:nvPr/>
        </p:nvSpPr>
        <p:spPr>
          <a:xfrm>
            <a:off x="777240" y="299008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Account Messag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5" y="3165653"/>
            <a:ext cx="380390" cy="38039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37360" y="2926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Messages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Chat with SPAR inside the system. A red badge on the bell shows unread replies.</a:t>
            </a:r>
            <a:endParaRPr lang="en-US" sz="1500" dirty="0"/>
          </a:p>
        </p:txBody>
      </p:sp>
      <p:sp>
        <p:nvSpPr>
          <p:cNvPr id="15" name="Account card Supplier Guidelines"/>
          <p:cNvSpPr/>
          <p:nvPr/>
        </p:nvSpPr>
        <p:spPr>
          <a:xfrm>
            <a:off x="548640" y="411480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Account Supplier Guidelines circle"/>
          <p:cNvSpPr/>
          <p:nvPr/>
        </p:nvSpPr>
        <p:spPr>
          <a:xfrm>
            <a:off x="777240" y="431596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Account Supplier Guideline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491533"/>
            <a:ext cx="380390" cy="38039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37360" y="42519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Supplier Guidelines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SPAR's quality standards and price-day rules, in Sinhala and English.</a:t>
            </a:r>
            <a:endParaRPr lang="en-US" sz="1500" dirty="0"/>
          </a:p>
        </p:txBody>
      </p:sp>
      <p:pic>
        <p:nvPicPr>
          <p:cNvPr id="19" name="Screenshot: Messages with Admin" descr="Messages with Adm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912" y="1874520"/>
            <a:ext cx="5486400" cy="3108960"/>
          </a:xfrm>
          <a:prstGeom prst="rect">
            <a:avLst/>
          </a:prstGeom>
        </p:spPr>
      </p:pic>
      <p:sp>
        <p:nvSpPr>
          <p:cNvPr id="20" name="Screenshot frame"/>
          <p:cNvSpPr/>
          <p:nvPr/>
        </p:nvSpPr>
        <p:spPr>
          <a:xfrm>
            <a:off x="6153912" y="1874520"/>
            <a:ext cx="5486400" cy="310896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1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Benefit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SPAR can always reach you, and every question gets a written answer.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 price cycle, start to finish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spc="100" kern="0" dirty="0">
                <a:solidFill>
                  <a:schemeClr val="bg2"/>
                </a:solidFill>
              </a:rPr>
              <a:t>PRICE DAY (MON · WED · FRI)</a:t>
            </a:r>
            <a:endParaRPr lang="en-US" sz="1300" dirty="0"/>
          </a:p>
        </p:txBody>
      </p:sp>
      <p:sp>
        <p:nvSpPr>
          <p:cNvPr id="8" name="Flow Submit prices"/>
          <p:cNvSpPr/>
          <p:nvPr/>
        </p:nvSpPr>
        <p:spPr>
          <a:xfrm>
            <a:off x="54864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22000"/>
            </a:schemeClr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Before 12:00 PM</a:t>
            </a:r>
            <a:endParaRPr lang="en-US" sz="1500" dirty="0"/>
          </a:p>
        </p:txBody>
      </p:sp>
      <p:sp>
        <p:nvSpPr>
          <p:cNvPr id="10" name="Flow SPAR reviews"/>
          <p:cNvSpPr/>
          <p:nvPr/>
        </p:nvSpPr>
        <p:spPr>
          <a:xfrm>
            <a:off x="448056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SPAR reviews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Compares and may adjust</a:t>
            </a:r>
            <a:endParaRPr lang="en-US" sz="1500" dirty="0"/>
          </a:p>
        </p:txBody>
      </p:sp>
      <p:sp>
        <p:nvSpPr>
          <p:cNvPr id="12" name="Flow Orders and POs issued"/>
          <p:cNvSpPr/>
          <p:nvPr/>
        </p:nvSpPr>
        <p:spPr>
          <a:xfrm>
            <a:off x="841248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4964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Orders and POs issued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Orders by Branch, Purchase Orders</a:t>
            </a:r>
            <a:endParaRPr lang="en-US" sz="1500" dirty="0"/>
          </a:p>
        </p:txBody>
      </p:sp>
      <p:sp>
        <p:nvSpPr>
          <p:cNvPr id="14" name="Flow Pack by branch"/>
          <p:cNvSpPr/>
          <p:nvPr/>
        </p:nvSpPr>
        <p:spPr>
          <a:xfrm>
            <a:off x="548640" y="452628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5262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Pack by branch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Check it against the PO</a:t>
            </a:r>
            <a:endParaRPr lang="en-US" sz="1500" dirty="0"/>
          </a:p>
        </p:txBody>
      </p:sp>
      <p:sp>
        <p:nvSpPr>
          <p:cNvPr id="16" name="Flow Deliver to each branch"/>
          <p:cNvSpPr/>
          <p:nvPr/>
        </p:nvSpPr>
        <p:spPr>
          <a:xfrm>
            <a:off x="4480560" y="452628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45262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Deliver to each branch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Two days after the price day</a:t>
            </a:r>
            <a:endParaRPr lang="en-US" sz="1500" dirty="0"/>
          </a:p>
        </p:txBody>
      </p:sp>
      <p:sp>
        <p:nvSpPr>
          <p:cNvPr id="18" name="Flow arrow 1"/>
          <p:cNvSpPr/>
          <p:nvPr/>
        </p:nvSpPr>
        <p:spPr>
          <a:xfrm>
            <a:off x="3840480" y="214884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9" name="Flow arrow 2"/>
          <p:cNvSpPr/>
          <p:nvPr/>
        </p:nvSpPr>
        <p:spPr>
          <a:xfrm>
            <a:off x="7772400" y="214884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0" name="Adjusted arrow"/>
          <p:cNvSpPr/>
          <p:nvPr/>
        </p:nvSpPr>
        <p:spPr>
          <a:xfrm>
            <a:off x="6103620" y="2651760"/>
            <a:ext cx="0" cy="3200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1" name="Adjusted price box"/>
          <p:cNvSpPr/>
          <p:nvPr/>
        </p:nvSpPr>
        <p:spPr>
          <a:xfrm>
            <a:off x="4663440" y="3017520"/>
            <a:ext cx="2880360" cy="868680"/>
          </a:xfrm>
          <a:prstGeom prst="roundRect">
            <a:avLst>
              <a:gd name="adj" fmla="val 12632"/>
            </a:avLst>
          </a:prstGeom>
          <a:solidFill>
            <a:schemeClr val="accent6">
              <a:alpha val="8000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4754880" y="30175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Price adjusted?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Approve &amp; sign the sheet</a:t>
            </a:r>
            <a:endParaRPr lang="en-US" sz="1600" dirty="0"/>
          </a:p>
        </p:txBody>
      </p:sp>
      <p:sp>
        <p:nvSpPr>
          <p:cNvPr id="23" name="Elbow down"/>
          <p:cNvSpPr/>
          <p:nvPr/>
        </p:nvSpPr>
        <p:spPr>
          <a:xfrm>
            <a:off x="10035540" y="2651760"/>
            <a:ext cx="0" cy="146304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24" name="Elbow across"/>
          <p:cNvSpPr/>
          <p:nvPr/>
        </p:nvSpPr>
        <p:spPr>
          <a:xfrm>
            <a:off x="2171700" y="4114800"/>
            <a:ext cx="786384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25" name="Elbow into packing"/>
          <p:cNvSpPr/>
          <p:nvPr/>
        </p:nvSpPr>
        <p:spPr>
          <a:xfrm>
            <a:off x="2171700" y="4114800"/>
            <a:ext cx="0" cy="36576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6" name="Text 22"/>
          <p:cNvSpPr txBox="1"/>
          <p:nvPr/>
        </p:nvSpPr>
        <p:spPr>
          <a:xfrm>
            <a:off x="235458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spc="100" kern="0" dirty="0">
                <a:solidFill>
                  <a:schemeClr val="bg2"/>
                </a:solidFill>
              </a:rPr>
              <a:t>DELIVERY DAY</a:t>
            </a:r>
            <a:endParaRPr lang="en-US" sz="1300" dirty="0"/>
          </a:p>
        </p:txBody>
      </p:sp>
      <p:sp>
        <p:nvSpPr>
          <p:cNvPr id="27" name="Flow arrow 3"/>
          <p:cNvSpPr/>
          <p:nvPr/>
        </p:nvSpPr>
        <p:spPr>
          <a:xfrm>
            <a:off x="3840480" y="498348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8412480" y="45262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accent1"/>
                </a:solidFill>
              </a:rPr>
              <a:t>The one time to remember is 12:00 PM on price days.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What's in it for you</a:t>
            </a:r>
            <a:endParaRPr lang="en-US" sz="3400" dirty="0"/>
          </a:p>
        </p:txBody>
      </p:sp>
      <p:sp>
        <p:nvSpPr>
          <p:cNvPr id="7" name="Benefit card 1"/>
          <p:cNvSpPr/>
          <p:nvPr/>
        </p:nvSpPr>
        <p:spPr>
          <a:xfrm>
            <a:off x="548640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Benefit 1 circle"/>
          <p:cNvSpPr/>
          <p:nvPr/>
        </p:nvSpPr>
        <p:spPr>
          <a:xfrm>
            <a:off x="777240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9" name="Benefit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248" y="1803928"/>
            <a:ext cx="342351" cy="34235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Predictable price days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Plan your week around Mon, Wed, Fri</a:t>
            </a:r>
            <a:endParaRPr lang="en-US" sz="1500" dirty="0"/>
          </a:p>
        </p:txBody>
      </p:sp>
      <p:sp>
        <p:nvSpPr>
          <p:cNvPr id="11" name="Benefit card 2"/>
          <p:cNvSpPr/>
          <p:nvPr/>
        </p:nvSpPr>
        <p:spPr>
          <a:xfrm>
            <a:off x="3355848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Benefit 2 circle"/>
          <p:cNvSpPr/>
          <p:nvPr/>
        </p:nvSpPr>
        <p:spPr>
          <a:xfrm>
            <a:off x="3584448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13" name="Benefit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2456" y="1803928"/>
            <a:ext cx="342351" cy="34235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584448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Last price shown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A guide for every item</a:t>
            </a:r>
            <a:endParaRPr lang="en-US" sz="1500" dirty="0"/>
          </a:p>
        </p:txBody>
      </p:sp>
      <p:sp>
        <p:nvSpPr>
          <p:cNvPr id="15" name="Benefit card 3"/>
          <p:cNvSpPr/>
          <p:nvPr/>
        </p:nvSpPr>
        <p:spPr>
          <a:xfrm>
            <a:off x="6163056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Benefit 3 circle"/>
          <p:cNvSpPr/>
          <p:nvPr/>
        </p:nvSpPr>
        <p:spPr>
          <a:xfrm>
            <a:off x="6391656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17" name="Benefit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9664" y="1803928"/>
            <a:ext cx="342351" cy="342351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391656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Fix a price before cutoff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Resubmit, no duplicates</a:t>
            </a:r>
            <a:endParaRPr lang="en-US" sz="1500" dirty="0"/>
          </a:p>
        </p:txBody>
      </p:sp>
      <p:sp>
        <p:nvSpPr>
          <p:cNvPr id="19" name="Benefit card 4"/>
          <p:cNvSpPr/>
          <p:nvPr/>
        </p:nvSpPr>
        <p:spPr>
          <a:xfrm>
            <a:off x="8970264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Benefit 4 circle"/>
          <p:cNvSpPr/>
          <p:nvPr/>
        </p:nvSpPr>
        <p:spPr>
          <a:xfrm>
            <a:off x="9198864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Benefit 4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6872" y="1803928"/>
            <a:ext cx="342351" cy="34235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198864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Signed agreements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No disputes over agreed prices</a:t>
            </a:r>
            <a:endParaRPr lang="en-US" sz="1500" dirty="0"/>
          </a:p>
        </p:txBody>
      </p:sp>
      <p:sp>
        <p:nvSpPr>
          <p:cNvPr id="23" name="Benefit card 5"/>
          <p:cNvSpPr/>
          <p:nvPr/>
        </p:nvSpPr>
        <p:spPr>
          <a:xfrm>
            <a:off x="548640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Benefit 5 circle"/>
          <p:cNvSpPr/>
          <p:nvPr/>
        </p:nvSpPr>
        <p:spPr>
          <a:xfrm>
            <a:off x="777240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5" name="Benefit 5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5248" y="4181368"/>
            <a:ext cx="342351" cy="342351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77240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Orders by branch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Know exactly what goes where</a:t>
            </a:r>
            <a:endParaRPr lang="en-US" sz="1500" dirty="0"/>
          </a:p>
        </p:txBody>
      </p:sp>
      <p:sp>
        <p:nvSpPr>
          <p:cNvPr id="27" name="Benefit card 6"/>
          <p:cNvSpPr/>
          <p:nvPr/>
        </p:nvSpPr>
        <p:spPr>
          <a:xfrm>
            <a:off x="3355848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Benefit 6 circle"/>
          <p:cNvSpPr/>
          <p:nvPr/>
        </p:nvSpPr>
        <p:spPr>
          <a:xfrm>
            <a:off x="3584448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9" name="Benefit 6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2456" y="4181368"/>
            <a:ext cx="342351" cy="342351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3584448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Excel download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Ready for packing lists</a:t>
            </a:r>
            <a:endParaRPr lang="en-US" sz="1500" dirty="0"/>
          </a:p>
        </p:txBody>
      </p:sp>
      <p:sp>
        <p:nvSpPr>
          <p:cNvPr id="31" name="Benefit card 7"/>
          <p:cNvSpPr/>
          <p:nvPr/>
        </p:nvSpPr>
        <p:spPr>
          <a:xfrm>
            <a:off x="6163056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Benefit 7 circle"/>
          <p:cNvSpPr/>
          <p:nvPr/>
        </p:nvSpPr>
        <p:spPr>
          <a:xfrm>
            <a:off x="6391656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33" name="Benefit 7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49664" y="4181368"/>
            <a:ext cx="342351" cy="342351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391656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Printable POs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Official, e-signed orders</a:t>
            </a:r>
            <a:endParaRPr lang="en-US" sz="1500" dirty="0"/>
          </a:p>
        </p:txBody>
      </p:sp>
      <p:sp>
        <p:nvSpPr>
          <p:cNvPr id="35" name="Benefit card 8"/>
          <p:cNvSpPr/>
          <p:nvPr/>
        </p:nvSpPr>
        <p:spPr>
          <a:xfrm>
            <a:off x="8970264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Benefit 8 circle"/>
          <p:cNvSpPr/>
          <p:nvPr/>
        </p:nvSpPr>
        <p:spPr>
          <a:xfrm>
            <a:off x="9198864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37" name="Benefit 8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56872" y="4181368"/>
            <a:ext cx="342351" cy="342351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9198864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Messages tab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Questions answered in writing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Getting started: how to log in</a:t>
            </a:r>
            <a:endParaRPr lang="en-US" sz="3400" dirty="0"/>
          </a:p>
        </p:txBody>
      </p:sp>
      <p:sp>
        <p:nvSpPr>
          <p:cNvPr id="7" name="Login step 1"/>
          <p:cNvSpPr/>
          <p:nvPr/>
        </p:nvSpPr>
        <p:spPr>
          <a:xfrm>
            <a:off x="548640" y="141732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141732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141732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Open the system in your browser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[insert live URL]</a:t>
            </a:r>
            <a:endParaRPr lang="en-US" sz="1500" dirty="0"/>
          </a:p>
        </p:txBody>
      </p:sp>
      <p:sp>
        <p:nvSpPr>
          <p:cNvPr id="10" name="Login step 2"/>
          <p:cNvSpPr/>
          <p:nvPr/>
        </p:nvSpPr>
        <p:spPr>
          <a:xfrm>
            <a:off x="548640" y="242316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42316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2316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Enter your supplier username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e.g. sup01, plus the starting password from SPAR</a:t>
            </a:r>
            <a:endParaRPr lang="en-US" sz="1500" dirty="0"/>
          </a:p>
        </p:txBody>
      </p:sp>
      <p:sp>
        <p:nvSpPr>
          <p:cNvPr id="13" name="Login step 3"/>
          <p:cNvSpPr/>
          <p:nvPr/>
        </p:nvSpPr>
        <p:spPr>
          <a:xfrm>
            <a:off x="548640" y="342900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42900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1463040" y="342900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Choose your own password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Required at first sign-in before you can continue</a:t>
            </a:r>
            <a:endParaRPr lang="en-US" sz="1500" dirty="0"/>
          </a:p>
        </p:txBody>
      </p:sp>
      <p:sp>
        <p:nvSpPr>
          <p:cNvPr id="16" name="Login step 4"/>
          <p:cNvSpPr/>
          <p:nvPr/>
        </p:nvSpPr>
        <p:spPr>
          <a:xfrm>
            <a:off x="548640" y="443484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443484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1463040" y="443484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Keep it safe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You also use it to sign price approvals</a:t>
            </a:r>
            <a:endParaRPr lang="en-US" sz="1500" dirty="0"/>
          </a:p>
        </p:txBody>
      </p:sp>
      <p:sp>
        <p:nvSpPr>
          <p:cNvPr id="19" name="Lockout card"/>
          <p:cNvSpPr/>
          <p:nvPr/>
        </p:nvSpPr>
        <p:spPr>
          <a:xfrm>
            <a:off x="7589520" y="1417320"/>
            <a:ext cx="4053535" cy="3858768"/>
          </a:xfrm>
          <a:prstGeom prst="roundRect">
            <a:avLst>
              <a:gd name="adj" fmla="val 284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Lockout circle"/>
          <p:cNvSpPr/>
          <p:nvPr/>
        </p:nvSpPr>
        <p:spPr>
          <a:xfrm>
            <a:off x="9159088" y="1691640"/>
            <a:ext cx="914400" cy="9144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21" name="Lockou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8544" y="1911096"/>
            <a:ext cx="475488" cy="47548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589520" y="2697480"/>
            <a:ext cx="2026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0" b="1" dirty="0">
                <a:solidFill>
                  <a:schemeClr val="accent4"/>
                </a:solidFill>
              </a:rPr>
              <a:t>5</a:t>
            </a:r>
            <a:endParaRPr lang="en-US" sz="6000" dirty="0"/>
          </a:p>
        </p:txBody>
      </p:sp>
      <p:sp>
        <p:nvSpPr>
          <p:cNvPr id="23" name="Text 18"/>
          <p:cNvSpPr txBox="1"/>
          <p:nvPr/>
        </p:nvSpPr>
        <p:spPr>
          <a:xfrm>
            <a:off x="9616288" y="2697480"/>
            <a:ext cx="2026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0" b="1" dirty="0">
                <a:solidFill>
                  <a:schemeClr val="accent4"/>
                </a:solidFill>
              </a:rPr>
              <a:t>15</a:t>
            </a:r>
            <a:endParaRPr lang="en-US" sz="6000" dirty="0"/>
          </a:p>
        </p:txBody>
      </p:sp>
      <p:sp>
        <p:nvSpPr>
          <p:cNvPr id="24" name="Text 19"/>
          <p:cNvSpPr txBox="1"/>
          <p:nvPr/>
        </p:nvSpPr>
        <p:spPr>
          <a:xfrm>
            <a:off x="7589520" y="3611880"/>
            <a:ext cx="2026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wrong passwords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616288" y="3611880"/>
            <a:ext cx="2026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minutes locked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7863840" y="4206240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Wait it out, or call support.</a:t>
            </a:r>
            <a:endParaRPr lang="en-US" sz="1600" dirty="0"/>
          </a:p>
        </p:txBody>
      </p:sp>
      <p:sp>
        <p:nvSpPr>
          <p:cNvPr id="27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Benefi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Your own password protects your prices and your signature.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to get help</a:t>
            </a:r>
            <a:endParaRPr lang="en-US" sz="3400" dirty="0"/>
          </a:p>
        </p:txBody>
      </p:sp>
      <p:sp>
        <p:nvSpPr>
          <p:cNvPr id="7" name="Help card Messages tab"/>
          <p:cNvSpPr/>
          <p:nvPr/>
        </p:nvSpPr>
        <p:spPr>
          <a:xfrm>
            <a:off x="548640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Help Messages tab circle"/>
          <p:cNvSpPr/>
          <p:nvPr/>
        </p:nvSpPr>
        <p:spPr>
          <a:xfrm>
            <a:off x="1339596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Help Messages tab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0998" y="2070202"/>
            <a:ext cx="523037" cy="52303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Messages tab</a:t>
            </a:r>
            <a:endParaRPr lang="en-US" sz="1900" dirty="0"/>
          </a:p>
        </p:txBody>
      </p:sp>
      <p:sp>
        <p:nvSpPr>
          <p:cNvPr id="11" name="Text 6"/>
          <p:cNvSpPr txBox="1"/>
          <p:nvPr/>
        </p:nvSpPr>
        <p:spPr>
          <a:xfrm>
            <a:off x="777240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Chat with SPAR inside the system. A red badge on the bell shows unread replies.</a:t>
            </a:r>
            <a:endParaRPr lang="en-US" sz="1500" dirty="0"/>
          </a:p>
        </p:txBody>
      </p:sp>
      <p:sp>
        <p:nvSpPr>
          <p:cNvPr id="12" name="Help card Supplier Guidelines"/>
          <p:cNvSpPr/>
          <p:nvPr/>
        </p:nvSpPr>
        <p:spPr>
          <a:xfrm>
            <a:off x="3355848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Help Supplier Guidelines circle"/>
          <p:cNvSpPr/>
          <p:nvPr/>
        </p:nvSpPr>
        <p:spPr>
          <a:xfrm>
            <a:off x="4146804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Help Supplier Guidelin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8206" y="2070202"/>
            <a:ext cx="523037" cy="52303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38728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Supplier Guidelines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3584448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Quality standards and price-day rules, in Sinhala and English, any time.</a:t>
            </a:r>
            <a:endParaRPr lang="en-US" sz="1500" dirty="0"/>
          </a:p>
        </p:txBody>
      </p:sp>
      <p:sp>
        <p:nvSpPr>
          <p:cNvPr id="17" name="Help card Support phone"/>
          <p:cNvSpPr/>
          <p:nvPr/>
        </p:nvSpPr>
        <p:spPr>
          <a:xfrm>
            <a:off x="6163056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8" name="Help Support phone circle"/>
          <p:cNvSpPr/>
          <p:nvPr/>
        </p:nvSpPr>
        <p:spPr>
          <a:xfrm>
            <a:off x="6954012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9" name="Help Support phone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5414" y="2070202"/>
            <a:ext cx="523037" cy="52303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345936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Support phone</a:t>
            </a:r>
            <a:endParaRPr lang="en-US" sz="1900" dirty="0"/>
          </a:p>
        </p:txBody>
      </p:sp>
      <p:sp>
        <p:nvSpPr>
          <p:cNvPr id="21" name="Text 14"/>
          <p:cNvSpPr txBox="1"/>
          <p:nvPr/>
        </p:nvSpPr>
        <p:spPr>
          <a:xfrm>
            <a:off x="6391656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076 562 2317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Shown in Supplier Guidelines; SPAR can update it.</a:t>
            </a:r>
            <a:endParaRPr lang="en-US" sz="1500" dirty="0"/>
          </a:p>
        </p:txBody>
      </p:sp>
      <p:sp>
        <p:nvSpPr>
          <p:cNvPr id="22" name="Help card Training materials"/>
          <p:cNvSpPr/>
          <p:nvPr/>
        </p:nvSpPr>
        <p:spPr>
          <a:xfrm>
            <a:off x="8970264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Help Training materials circle"/>
          <p:cNvSpPr/>
          <p:nvPr/>
        </p:nvSpPr>
        <p:spPr>
          <a:xfrm>
            <a:off x="9761220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4" name="Help Training materials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622" y="2070202"/>
            <a:ext cx="523037" cy="52303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153144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Training materials</a:t>
            </a:r>
            <a:endParaRPr lang="en-US" sz="1900" dirty="0"/>
          </a:p>
        </p:txBody>
      </p:sp>
      <p:sp>
        <p:nvSpPr>
          <p:cNvPr id="26" name="Text 18"/>
          <p:cNvSpPr txBox="1"/>
          <p:nvPr/>
        </p:nvSpPr>
        <p:spPr>
          <a:xfrm>
            <a:off x="9198864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This deck and a quick-reference card: [insert link]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4" name="Closing panel"/>
          <p:cNvSpPr/>
          <p:nvPr/>
        </p:nvSpPr>
        <p:spPr>
          <a:xfrm>
            <a:off x="274320" y="1234440"/>
            <a:ext cx="7315200" cy="4206240"/>
          </a:xfrm>
          <a:prstGeom prst="roundRect">
            <a:avLst>
              <a:gd name="adj" fmla="val 4348"/>
            </a:avLst>
          </a:prstGeom>
          <a:solidFill>
            <a:schemeClr val="tx2">
              <a:alpha val="70000"/>
            </a:schemeClr>
          </a:solidFill>
          <a:ln/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Questions?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Use the Messages tab any time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5720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Support: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076 562 2317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SPAR Fresh Circuit">
  <a:themeElements>
    <a:clrScheme name="SPAR Fresh Circuit">
      <a:dk1>
        <a:srgbClr val="0B1E26"/>
      </a:dk1>
      <a:lt1>
        <a:srgbClr val="FFFFFF"/>
      </a:lt1>
      <a:dk2>
        <a:srgbClr val="05131A"/>
      </a:dk2>
      <a:lt2>
        <a:srgbClr val="BFE6EC"/>
      </a:lt2>
      <a:accent1>
        <a:srgbClr val="3FD8E8"/>
      </a:accent1>
      <a:accent2>
        <a:srgbClr val="2BB673"/>
      </a:accent2>
      <a:accent3>
        <a:srgbClr val="FF4D5E"/>
      </a:accent3>
      <a:accent4>
        <a:srgbClr val="F2B33D"/>
      </a:accent4>
      <a:accent5>
        <a:srgbClr val="1F7A8C"/>
      </a:accent5>
      <a:accent6>
        <a:srgbClr val="0E3440"/>
      </a:accent6>
      <a:hlink>
        <a:srgbClr val="3FD8E8"/>
      </a:hlink>
      <a:folHlink>
        <a:srgbClr val="7FE3EE"/>
      </a:folHlink>
    </a:clrScheme>
    <a:fontScheme name="SPAR Fresh Circui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SPAR Sri Lanka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 Fresh Procurement — Supplier Training</dc:title>
  <dc:subject>PptxGenJS Presentation</dc:subject>
  <dc:creator>SPAR Fresh Procurement</dc:creator>
  <cp:lastModifiedBy>SPAR Fresh Procurement</cp:lastModifiedBy>
  <cp:revision>1</cp:revision>
  <dcterms:created xsi:type="dcterms:W3CDTF">2026-10-12T05:16:57Z</dcterms:created>
  <dcterms:modified xsi:type="dcterms:W3CDTF">2026-10-12T05:16:57Z</dcterms:modified>
</cp:coreProperties>
</file>