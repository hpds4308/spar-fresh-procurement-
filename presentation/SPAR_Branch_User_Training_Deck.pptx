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de7892ea-274f-3657-19f4-017b52a0d41a}">
          <p14:sldIdLst>
            <p14:sldId id="256"/>
            <p14:sldId id="257"/>
            <p14:sldId id="258"/>
          </p14:sldIdLst>
        </p14:section>
        <p14:section name="Your Role" id="{8378abc9-eb2c-1935-3a8f-56eaf6fc9cc4}">
          <p14:sldIdLst>
            <p14:sldId id="259"/>
          </p14:sldIdLst>
        </p14:section>
        <p14:section name="Key Features" id="{c38e1720-cba9-be9a-6fd9-9893c1e1f6d0}">
          <p14:sldIdLst>
            <p14:sldId id="260"/>
            <p14:sldId id="261"/>
            <p14:sldId id="262"/>
            <p14:sldId id="263"/>
            <p14:sldId id="264"/>
            <p14:sldId id="265"/>
            <p14:sldId id="266"/>
            <p14:sldId id="267"/>
            <p14:sldId id="268"/>
          </p14:sldIdLst>
        </p14:section>
        <p14:section name="Wrap-up" id="{6383c9ba-e7c2-93d6-45bc-fed628be4db3}">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minutes, including a live walk-through and Q&amp;A. Ask everyone to bring their branch username.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website your branch uses to order fresh produce from SPAR Fresh Procurement each day. It replaces calls, WhatsApp and paper sheets with one shared order list, and runs in any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what changes for the branch: one deadline, nothing lost, an automatic safety net, and a record of every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change after submitting? Message head office or call the support number. They can add items to your order. Added items show as "Ordered by SPAR Fresh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dashboard if you can. Point out the bell icon: it shows unread messages from head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Order tab lists every fruit and vegetable you can order. Stock in Hand comes from your till system and is for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enter two quantities, Save Order, then Submit Order. Point out that the order is read-only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a safety net, not the plan. A copied order may not match this week's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statuses in order. Only an ASSIGNED order can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with a short delivery: ordered 10 kg, received 8 kg, note "2 kg damaged". Show the red highlight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printing the day's PO and keeping it at the receiving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an order, safety stock is not per day. It stays saved until the branch edits or clears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order from yesterday, from draft to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system saves time, reduces waste, protects against missed orders and puts every delivery 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starting passwords on paper at the session, then have each branch change it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branches to use the Messages tab first so questions are in writing; call for anything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to prepare for:
• "I submitted the wrong quantity. Can I fix it?" No, a submitted order is locked. Message or call head office straight away.
• "What if the delivery is short?" Enter the real quantity in Confirm Delivery and add a note.
• "Can I order for the day after tomorrow?" No. Orders are always for next-day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513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03320"/>
            <a:ext cx="6766560" cy="54864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513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10-4.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4-9.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11-4.png"/><Relationship Id="rId7" Type="http://schemas.openxmlformats.org/officeDocument/2006/relationships/image" Target="../media/image-5-7.png"/><Relationship Id="rId8" Type="http://schemas.openxmlformats.org/officeDocument/2006/relationships/image" Target="../media/image-16-4.png"/><Relationship Id="rId9" Type="http://schemas.openxmlformats.org/officeDocument/2006/relationships/image" Target="../media/image-16-5.png"/><Relationship Id="rId10" Type="http://schemas.openxmlformats.org/officeDocument/2006/relationships/image" Target="../media/image-10-4.png"/><Relationship Id="rId11" Type="http://schemas.openxmlformats.org/officeDocument/2006/relationships/image" Target="../media/image-10-5.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6-4.png"/><Relationship Id="rId5" Type="http://schemas.openxmlformats.org/officeDocument/2006/relationships/image" Target="../media/image-11-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7-4.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2-5.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5-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Title panel"/>
          <p:cNvSpPr/>
          <p:nvPr/>
        </p:nvSpPr>
        <p:spPr>
          <a:xfrm>
            <a:off x="274320" y="1234440"/>
            <a:ext cx="7315200" cy="4206240"/>
          </a:xfrm>
          <a:prstGeom prst="roundRect">
            <a:avLst>
              <a:gd name="adj" fmla="val 4348"/>
            </a:avLst>
          </a:prstGeom>
          <a:solidFill>
            <a:schemeClr val="tx2">
              <a:alpha val="70000"/>
            </a:schemeClr>
          </a:solidFill>
          <a:ln/>
        </p:spPr>
      </p:sp>
      <p:sp>
        <p:nvSpPr>
          <p:cNvPr id="4" name="Text 1"/>
          <p:cNvSpPr txBox="1"/>
          <p:nvPr/>
        </p:nvSpPr>
        <p:spPr>
          <a:xfrm>
            <a:off x="548640" y="1463040"/>
            <a:ext cx="6766560" cy="320040"/>
          </a:xfrm>
          <a:prstGeom prst="rect">
            <a:avLst/>
          </a:prstGeom>
          <a:noFill/>
          <a:ln/>
        </p:spPr>
        <p:txBody>
          <a:bodyPr wrap="square" lIns="0" tIns="0" rIns="0" bIns="0" rtlCol="0" anchor="t"/>
          <a:lstStyle/>
          <a:p>
            <a:pPr indent="0" marL="0">
              <a:spcAft>
                <a:spcPts val="400"/>
              </a:spcAft>
              <a:buNone/>
            </a:pPr>
            <a:r>
              <a:rPr lang="en-US" sz="1400" b="1" spc="200" kern="0" dirty="0">
                <a:solidFill>
                  <a:schemeClr val="accent1"/>
                </a:solidFill>
              </a:rPr>
              <a:t>SPAR SRI LANKA  ·  FRESH PROCUREMENT</a:t>
            </a:r>
            <a:endParaRPr lang="en-US" sz="1400" dirty="0"/>
          </a:p>
        </p:txBody>
      </p:sp>
      <p:sp>
        <p:nvSpPr>
          <p:cNvPr id="5" name="Text 0"/>
          <p:cNvSpPr/>
          <p:nvPr>
            <p:ph idx="100" type="title" hasCustomPrompt="1"/>
          </p:nvPr>
        </p:nvSpPr>
        <p:spPr>
          <a:xfrm>
            <a:off x="548640" y="1828800"/>
            <a:ext cx="6766560" cy="1737360"/>
          </a:xfrm>
          <a:prstGeom prst="rect">
            <a:avLst/>
          </a:prstGeom>
          <a:noFill/>
          <a:ln/>
        </p:spPr>
        <p:txBody>
          <a:bodyPr wrap="square" lIns="0" tIns="0" rIns="0" bIns="0" rtlCol="0" anchor="b"/>
          <a:lstStyle/>
          <a:p>
            <a:pPr algn="l" indent="0" marL="0">
              <a:buNone/>
            </a:pPr>
            <a:r>
              <a:rPr lang="en-US" sz="4000" b="1" dirty="0">
                <a:solidFill>
                  <a:schemeClr val="bg1"/>
                </a:solidFill>
              </a:rPr>
              <a:t>Fruit &amp; Vegetable Procurement System: Branch User Training</a:t>
            </a:r>
            <a:endParaRPr lang="en-US" sz="4000" dirty="0"/>
          </a:p>
        </p:txBody>
      </p:sp>
      <p:sp>
        <p:nvSpPr>
          <p:cNvPr id="6" name="Text 0"/>
          <p:cNvSpPr/>
          <p:nvPr>
            <p:ph idx="101" type="body" hasCustomPrompt="1"/>
          </p:nvPr>
        </p:nvSpPr>
        <p:spPr>
          <a:xfrm>
            <a:off x="548640" y="3703320"/>
            <a:ext cx="6766560" cy="548640"/>
          </a:xfrm>
          <a:prstGeom prst="rect">
            <a:avLst/>
          </a:prstGeom>
          <a:noFill/>
          <a:ln/>
        </p:spPr>
        <p:txBody>
          <a:bodyPr wrap="square" lIns="0" tIns="0" rIns="0" bIns="0" rtlCol="0"/>
          <a:lstStyle/>
          <a:p>
            <a:pPr algn="l" indent="0" marL="0">
              <a:buNone/>
            </a:pPr>
            <a:r>
              <a:rPr lang="en-US" sz="2400" i="1" dirty="0">
                <a:solidFill>
                  <a:schemeClr val="accent1"/>
                </a:solidFill>
              </a:rPr>
              <a:t>Streamlining Your Procurement Process</a:t>
            </a:r>
            <a:endParaRPr lang="en-US" sz="2400" dirty="0"/>
          </a:p>
        </p:txBody>
      </p:sp>
      <p:sp>
        <p:nvSpPr>
          <p:cNvPr id="7" name="Text 4"/>
          <p:cNvSpPr txBox="1"/>
          <p:nvPr/>
        </p:nvSpPr>
        <p:spPr>
          <a:xfrm>
            <a:off x="548640" y="4754880"/>
            <a:ext cx="6766560" cy="36576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[Your name], SPAR Fresh Procurement   ·   [Training date]</a:t>
            </a:r>
            <a:endParaRPr lang="en-US" sz="1600" dirty="0"/>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What is this system?</a:t>
            </a:r>
            <a:endParaRPr lang="en-US" sz="3400" dirty="0"/>
          </a:p>
        </p:txBody>
      </p:sp>
      <p:sp>
        <p:nvSpPr>
          <p:cNvPr id="6" name="Point card 1"/>
          <p:cNvSpPr/>
          <p:nvPr/>
        </p:nvSpPr>
        <p:spPr>
          <a:xfrm>
            <a:off x="548640" y="15087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7" name="Point 1 circle"/>
          <p:cNvSpPr/>
          <p:nvPr/>
        </p:nvSpPr>
        <p:spPr>
          <a:xfrm>
            <a:off x="777240" y="1709928"/>
            <a:ext cx="731520" cy="731520"/>
          </a:xfrm>
          <a:prstGeom prst="ellipse">
            <a:avLst/>
          </a:prstGeom>
          <a:solidFill>
            <a:schemeClr val="tx2">
              <a:alpha val="80000"/>
            </a:schemeClr>
          </a:solidFill>
          <a:ln w="19050">
            <a:solidFill>
              <a:schemeClr val="accent1"/>
            </a:solidFill>
            <a:prstDash val="solid"/>
          </a:ln>
        </p:spPr>
      </p:sp>
      <p:pic>
        <p:nvPicPr>
          <p:cNvPr id="8" name="Point 1 icon" descr="preencoded.png">    </p:cNvPr>
          <p:cNvPicPr>
            <a:picLocks noChangeAspect="1"/>
          </p:cNvPicPr>
          <p:nvPr/>
        </p:nvPicPr>
        <p:blipFill>
          <a:blip r:embed="rId4"/>
          <a:stretch>
            <a:fillRect/>
          </a:stretch>
        </p:blipFill>
        <p:spPr>
          <a:xfrm>
            <a:off x="952805" y="1885493"/>
            <a:ext cx="380390" cy="380390"/>
          </a:xfrm>
          <a:prstGeom prst="rect">
            <a:avLst/>
          </a:prstGeom>
        </p:spPr>
      </p:pic>
      <p:sp>
        <p:nvSpPr>
          <p:cNvPr id="9" name="Text 5"/>
          <p:cNvSpPr txBox="1"/>
          <p:nvPr/>
        </p:nvSpPr>
        <p:spPr>
          <a:xfrm>
            <a:off x="1737360" y="16733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Order online, every day</a:t>
            </a:r>
            <a:endParaRPr lang="en-US" sz="1500" dirty="0"/>
          </a:p>
          <a:p>
            <a:pPr indent="0" marL="0">
              <a:spcAft>
                <a:spcPts val="400"/>
              </a:spcAft>
              <a:buNone/>
            </a:pPr>
            <a:r>
              <a:rPr lang="en-US" sz="1500" dirty="0">
                <a:solidFill>
                  <a:schemeClr val="bg2"/>
                </a:solidFill>
              </a:rPr>
              <a:t>Your branch orders fresh fruit and vegetables from SPAR Fresh Procurement here.</a:t>
            </a:r>
            <a:endParaRPr lang="en-US" sz="1500" dirty="0"/>
          </a:p>
        </p:txBody>
      </p:sp>
      <p:sp>
        <p:nvSpPr>
          <p:cNvPr id="10" name="Point card 2"/>
          <p:cNvSpPr/>
          <p:nvPr/>
        </p:nvSpPr>
        <p:spPr>
          <a:xfrm>
            <a:off x="548640" y="28803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11" name="Point 2 circle"/>
          <p:cNvSpPr/>
          <p:nvPr/>
        </p:nvSpPr>
        <p:spPr>
          <a:xfrm>
            <a:off x="777240" y="3081528"/>
            <a:ext cx="731520" cy="731520"/>
          </a:xfrm>
          <a:prstGeom prst="ellipse">
            <a:avLst/>
          </a:prstGeom>
          <a:solidFill>
            <a:schemeClr val="tx2">
              <a:alpha val="80000"/>
            </a:schemeClr>
          </a:solidFill>
          <a:ln w="19050">
            <a:solidFill>
              <a:schemeClr val="accent1"/>
            </a:solidFill>
            <a:prstDash val="solid"/>
          </a:ln>
        </p:spPr>
      </p:sp>
      <p:pic>
        <p:nvPicPr>
          <p:cNvPr id="12" name="Point 2 icon" descr="preencoded.png">    </p:cNvPr>
          <p:cNvPicPr>
            <a:picLocks noChangeAspect="1"/>
          </p:cNvPicPr>
          <p:nvPr/>
        </p:nvPicPr>
        <p:blipFill>
          <a:blip r:embed="rId5"/>
          <a:stretch>
            <a:fillRect/>
          </a:stretch>
        </p:blipFill>
        <p:spPr>
          <a:xfrm>
            <a:off x="952805" y="3257093"/>
            <a:ext cx="380390" cy="380390"/>
          </a:xfrm>
          <a:prstGeom prst="rect">
            <a:avLst/>
          </a:prstGeom>
        </p:spPr>
      </p:pic>
      <p:sp>
        <p:nvSpPr>
          <p:cNvPr id="13" name="Text 8"/>
          <p:cNvSpPr txBox="1"/>
          <p:nvPr/>
        </p:nvSpPr>
        <p:spPr>
          <a:xfrm>
            <a:off x="1737360" y="30449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One shared order list</a:t>
            </a:r>
            <a:endParaRPr lang="en-US" sz="1500" dirty="0"/>
          </a:p>
          <a:p>
            <a:pPr indent="0" marL="0">
              <a:spcAft>
                <a:spcPts val="400"/>
              </a:spcAft>
              <a:buNone/>
            </a:pPr>
            <a:r>
              <a:rPr lang="en-US" sz="1500" dirty="0">
                <a:solidFill>
                  <a:schemeClr val="bg2"/>
                </a:solidFill>
              </a:rPr>
              <a:t>Replaces phone calls, WhatsApp messages and paper order sheets.</a:t>
            </a:r>
            <a:endParaRPr lang="en-US" sz="1500" dirty="0"/>
          </a:p>
        </p:txBody>
      </p:sp>
      <p:sp>
        <p:nvSpPr>
          <p:cNvPr id="14" name="Point card 3"/>
          <p:cNvSpPr/>
          <p:nvPr/>
        </p:nvSpPr>
        <p:spPr>
          <a:xfrm>
            <a:off x="548640" y="4251960"/>
            <a:ext cx="6035040" cy="1143000"/>
          </a:xfrm>
          <a:prstGeom prst="roundRect">
            <a:avLst>
              <a:gd name="adj" fmla="val 9600"/>
            </a:avLst>
          </a:prstGeom>
          <a:solidFill>
            <a:schemeClr val="accent6">
              <a:alpha val="88000"/>
            </a:schemeClr>
          </a:solidFill>
          <a:ln w="12700">
            <a:solidFill>
              <a:schemeClr val="accent5"/>
            </a:solidFill>
            <a:prstDash val="solid"/>
          </a:ln>
        </p:spPr>
      </p:sp>
      <p:sp>
        <p:nvSpPr>
          <p:cNvPr id="15" name="Point 3 circle"/>
          <p:cNvSpPr/>
          <p:nvPr/>
        </p:nvSpPr>
        <p:spPr>
          <a:xfrm>
            <a:off x="777240" y="4453128"/>
            <a:ext cx="731520" cy="731520"/>
          </a:xfrm>
          <a:prstGeom prst="ellipse">
            <a:avLst/>
          </a:prstGeom>
          <a:solidFill>
            <a:schemeClr val="tx2">
              <a:alpha val="80000"/>
            </a:schemeClr>
          </a:solidFill>
          <a:ln w="19050">
            <a:solidFill>
              <a:schemeClr val="accent1"/>
            </a:solidFill>
            <a:prstDash val="solid"/>
          </a:ln>
        </p:spPr>
      </p:sp>
      <p:pic>
        <p:nvPicPr>
          <p:cNvPr id="16" name="Point 3 icon" descr="preencoded.png">    </p:cNvPr>
          <p:cNvPicPr>
            <a:picLocks noChangeAspect="1"/>
          </p:cNvPicPr>
          <p:nvPr/>
        </p:nvPicPr>
        <p:blipFill>
          <a:blip r:embed="rId6"/>
          <a:stretch>
            <a:fillRect/>
          </a:stretch>
        </p:blipFill>
        <p:spPr>
          <a:xfrm>
            <a:off x="952805" y="4628693"/>
            <a:ext cx="380390" cy="380390"/>
          </a:xfrm>
          <a:prstGeom prst="rect">
            <a:avLst/>
          </a:prstGeom>
        </p:spPr>
      </p:pic>
      <p:sp>
        <p:nvSpPr>
          <p:cNvPr id="17" name="Text 11"/>
          <p:cNvSpPr txBox="1"/>
          <p:nvPr/>
        </p:nvSpPr>
        <p:spPr>
          <a:xfrm>
            <a:off x="1737360" y="4416552"/>
            <a:ext cx="4663440" cy="86868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Works in any web browser</a:t>
            </a:r>
            <a:endParaRPr lang="en-US" sz="1500" dirty="0"/>
          </a:p>
          <a:p>
            <a:pPr indent="0" marL="0">
              <a:spcAft>
                <a:spcPts val="400"/>
              </a:spcAft>
              <a:buNone/>
            </a:pPr>
            <a:r>
              <a:rPr lang="en-US" sz="1500" dirty="0">
                <a:solidFill>
                  <a:schemeClr val="bg2"/>
                </a:solidFill>
              </a:rPr>
              <a:t>On a computer, tablet or phone. Nothing to install.</a:t>
            </a:r>
            <a:endParaRPr lang="en-US" sz="1500" dirty="0"/>
          </a:p>
        </p:txBody>
      </p:sp>
      <p:sp>
        <p:nvSpPr>
          <p:cNvPr id="18" name="Screenshot placeholder"/>
          <p:cNvSpPr/>
          <p:nvPr/>
        </p:nvSpPr>
        <p:spPr>
          <a:xfrm>
            <a:off x="7040880" y="1508760"/>
            <a:ext cx="4599432" cy="3886200"/>
          </a:xfrm>
          <a:prstGeom prst="roundRect">
            <a:avLst>
              <a:gd name="adj" fmla="val 2824"/>
            </a:avLst>
          </a:prstGeom>
          <a:solidFill>
            <a:schemeClr val="tx2">
              <a:alpha val="65000"/>
            </a:schemeClr>
          </a:solidFill>
          <a:ln w="15875">
            <a:solidFill>
              <a:schemeClr val="accent1"/>
            </a:solidFill>
            <a:prstDash val="dash"/>
          </a:ln>
        </p:spPr>
      </p:sp>
      <p:pic>
        <p:nvPicPr>
          <p:cNvPr id="19" name="Screenshot icon" descr="preencoded.png">    </p:cNvPr>
          <p:cNvPicPr>
            <a:picLocks noChangeAspect="1"/>
          </p:cNvPicPr>
          <p:nvPr/>
        </p:nvPicPr>
        <p:blipFill>
          <a:blip r:embed="rId7"/>
          <a:stretch>
            <a:fillRect/>
          </a:stretch>
        </p:blipFill>
        <p:spPr>
          <a:xfrm>
            <a:off x="9066276" y="2811780"/>
            <a:ext cx="548640" cy="548640"/>
          </a:xfrm>
          <a:prstGeom prst="rect">
            <a:avLst/>
          </a:prstGeom>
        </p:spPr>
      </p:pic>
      <p:sp>
        <p:nvSpPr>
          <p:cNvPr id="20" name="Screenshot label"/>
          <p:cNvSpPr txBox="1"/>
          <p:nvPr/>
        </p:nvSpPr>
        <p:spPr>
          <a:xfrm>
            <a:off x="7315200" y="3497580"/>
            <a:ext cx="40507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Branch Dashboard home screen</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Why are we moving to it?</a:t>
            </a:r>
            <a:endParaRPr lang="en-US" sz="3400" dirty="0"/>
          </a:p>
        </p:txBody>
      </p:sp>
      <p:sp>
        <p:nvSpPr>
          <p:cNvPr id="6" name="Reason card 1"/>
          <p:cNvSpPr/>
          <p:nvPr/>
        </p:nvSpPr>
        <p:spPr>
          <a:xfrm>
            <a:off x="548640" y="150876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7" name="Reason 1 circle"/>
          <p:cNvSpPr/>
          <p:nvPr/>
        </p:nvSpPr>
        <p:spPr>
          <a:xfrm>
            <a:off x="868680" y="1828800"/>
            <a:ext cx="868680" cy="868680"/>
          </a:xfrm>
          <a:prstGeom prst="ellipse">
            <a:avLst/>
          </a:prstGeom>
          <a:solidFill>
            <a:schemeClr val="tx2">
              <a:alpha val="80000"/>
            </a:schemeClr>
          </a:solidFill>
          <a:ln w="19050">
            <a:solidFill>
              <a:schemeClr val="accent1"/>
            </a:solidFill>
            <a:prstDash val="solid"/>
          </a:ln>
        </p:spPr>
      </p:sp>
      <p:pic>
        <p:nvPicPr>
          <p:cNvPr id="8" name="Reason 1 icon" descr="preencoded.png">    </p:cNvPr>
          <p:cNvPicPr>
            <a:picLocks noChangeAspect="1"/>
          </p:cNvPicPr>
          <p:nvPr/>
        </p:nvPicPr>
        <p:blipFill>
          <a:blip r:embed="rId4"/>
          <a:stretch>
            <a:fillRect/>
          </a:stretch>
        </p:blipFill>
        <p:spPr>
          <a:xfrm>
            <a:off x="1077163" y="2037283"/>
            <a:ext cx="451714" cy="451714"/>
          </a:xfrm>
          <a:prstGeom prst="rect">
            <a:avLst/>
          </a:prstGeom>
        </p:spPr>
      </p:pic>
      <p:sp>
        <p:nvSpPr>
          <p:cNvPr id="9" name="Text 5"/>
          <p:cNvSpPr txBox="1"/>
          <p:nvPr/>
        </p:nvSpPr>
        <p:spPr>
          <a:xfrm>
            <a:off x="2011680" y="182880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One clear deadline</a:t>
            </a:r>
            <a:endParaRPr lang="en-US" sz="1500" dirty="0"/>
          </a:p>
          <a:p>
            <a:pPr indent="0" marL="0">
              <a:spcAft>
                <a:spcPts val="400"/>
              </a:spcAft>
              <a:buNone/>
            </a:pPr>
            <a:r>
              <a:rPr lang="en-US" sz="1600" dirty="0">
                <a:solidFill>
                  <a:schemeClr val="bg2"/>
                </a:solidFill>
              </a:rPr>
              <a:t>Every branch orders the same way, before the same daily cutoff.</a:t>
            </a:r>
            <a:endParaRPr lang="en-US" sz="1500" dirty="0"/>
          </a:p>
        </p:txBody>
      </p:sp>
      <p:sp>
        <p:nvSpPr>
          <p:cNvPr id="10" name="Reason card 2"/>
          <p:cNvSpPr/>
          <p:nvPr/>
        </p:nvSpPr>
        <p:spPr>
          <a:xfrm>
            <a:off x="6190488" y="150876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11" name="Reason 2 circle"/>
          <p:cNvSpPr/>
          <p:nvPr/>
        </p:nvSpPr>
        <p:spPr>
          <a:xfrm>
            <a:off x="6510528" y="1828800"/>
            <a:ext cx="868680" cy="868680"/>
          </a:xfrm>
          <a:prstGeom prst="ellipse">
            <a:avLst/>
          </a:prstGeom>
          <a:solidFill>
            <a:schemeClr val="tx2">
              <a:alpha val="80000"/>
            </a:schemeClr>
          </a:solidFill>
          <a:ln w="19050">
            <a:solidFill>
              <a:schemeClr val="accent1"/>
            </a:solidFill>
            <a:prstDash val="solid"/>
          </a:ln>
        </p:spPr>
      </p:sp>
      <p:pic>
        <p:nvPicPr>
          <p:cNvPr id="12" name="Reason 2 icon" descr="preencoded.png">    </p:cNvPr>
          <p:cNvPicPr>
            <a:picLocks noChangeAspect="1"/>
          </p:cNvPicPr>
          <p:nvPr/>
        </p:nvPicPr>
        <p:blipFill>
          <a:blip r:embed="rId5"/>
          <a:stretch>
            <a:fillRect/>
          </a:stretch>
        </p:blipFill>
        <p:spPr>
          <a:xfrm>
            <a:off x="6719011" y="2037283"/>
            <a:ext cx="451714" cy="451714"/>
          </a:xfrm>
          <a:prstGeom prst="rect">
            <a:avLst/>
          </a:prstGeom>
        </p:spPr>
      </p:pic>
      <p:sp>
        <p:nvSpPr>
          <p:cNvPr id="13" name="Text 8"/>
          <p:cNvSpPr txBox="1"/>
          <p:nvPr/>
        </p:nvSpPr>
        <p:spPr>
          <a:xfrm>
            <a:off x="7653528" y="182880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No lost orders</a:t>
            </a:r>
            <a:endParaRPr lang="en-US" sz="1500" dirty="0"/>
          </a:p>
          <a:p>
            <a:pPr indent="0" marL="0">
              <a:spcAft>
                <a:spcPts val="400"/>
              </a:spcAft>
              <a:buNone/>
            </a:pPr>
            <a:r>
              <a:rPr lang="en-US" sz="1600" dirty="0">
                <a:solidFill>
                  <a:schemeClr val="bg2"/>
                </a:solidFill>
              </a:rPr>
              <a:t>Every order is saved, dated and visible to you and to head office.</a:t>
            </a:r>
            <a:endParaRPr lang="en-US" sz="1500" dirty="0"/>
          </a:p>
        </p:txBody>
      </p:sp>
      <p:sp>
        <p:nvSpPr>
          <p:cNvPr id="14" name="Reason card 3"/>
          <p:cNvSpPr/>
          <p:nvPr/>
        </p:nvSpPr>
        <p:spPr>
          <a:xfrm>
            <a:off x="548640" y="365760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15" name="Reason 3 circle"/>
          <p:cNvSpPr/>
          <p:nvPr/>
        </p:nvSpPr>
        <p:spPr>
          <a:xfrm>
            <a:off x="868680" y="3977640"/>
            <a:ext cx="868680" cy="868680"/>
          </a:xfrm>
          <a:prstGeom prst="ellipse">
            <a:avLst/>
          </a:prstGeom>
          <a:solidFill>
            <a:schemeClr val="tx2">
              <a:alpha val="80000"/>
            </a:schemeClr>
          </a:solidFill>
          <a:ln w="19050">
            <a:solidFill>
              <a:schemeClr val="accent1"/>
            </a:solidFill>
            <a:prstDash val="solid"/>
          </a:ln>
        </p:spPr>
      </p:sp>
      <p:pic>
        <p:nvPicPr>
          <p:cNvPr id="16" name="Reason 3 icon" descr="preencoded.png">    </p:cNvPr>
          <p:cNvPicPr>
            <a:picLocks noChangeAspect="1"/>
          </p:cNvPicPr>
          <p:nvPr/>
        </p:nvPicPr>
        <p:blipFill>
          <a:blip r:embed="rId6"/>
          <a:stretch>
            <a:fillRect/>
          </a:stretch>
        </p:blipFill>
        <p:spPr>
          <a:xfrm>
            <a:off x="1077163" y="4186123"/>
            <a:ext cx="451714" cy="451714"/>
          </a:xfrm>
          <a:prstGeom prst="rect">
            <a:avLst/>
          </a:prstGeom>
        </p:spPr>
      </p:pic>
      <p:sp>
        <p:nvSpPr>
          <p:cNvPr id="17" name="Text 11"/>
          <p:cNvSpPr txBox="1"/>
          <p:nvPr/>
        </p:nvSpPr>
        <p:spPr>
          <a:xfrm>
            <a:off x="2011680" y="397764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Never miss a delivery</a:t>
            </a:r>
            <a:endParaRPr lang="en-US" sz="1500" dirty="0"/>
          </a:p>
          <a:p>
            <a:pPr indent="0" marL="0">
              <a:spcAft>
                <a:spcPts val="400"/>
              </a:spcAft>
              <a:buNone/>
            </a:pPr>
            <a:r>
              <a:rPr lang="en-US" sz="1600" dirty="0">
                <a:solidFill>
                  <a:schemeClr val="bg2"/>
                </a:solidFill>
              </a:rPr>
              <a:t>Forget to order? The system places one for you, based on an earlier week.</a:t>
            </a:r>
            <a:endParaRPr lang="en-US" sz="1500" dirty="0"/>
          </a:p>
        </p:txBody>
      </p:sp>
      <p:sp>
        <p:nvSpPr>
          <p:cNvPr id="18" name="Reason card 4"/>
          <p:cNvSpPr/>
          <p:nvPr/>
        </p:nvSpPr>
        <p:spPr>
          <a:xfrm>
            <a:off x="6190488" y="3657600"/>
            <a:ext cx="5422392" cy="1874520"/>
          </a:xfrm>
          <a:prstGeom prst="roundRect">
            <a:avLst>
              <a:gd name="adj" fmla="val 5854"/>
            </a:avLst>
          </a:prstGeom>
          <a:solidFill>
            <a:schemeClr val="accent6">
              <a:alpha val="88000"/>
            </a:schemeClr>
          </a:solidFill>
          <a:ln w="12700">
            <a:solidFill>
              <a:schemeClr val="accent5"/>
            </a:solidFill>
            <a:prstDash val="solid"/>
          </a:ln>
        </p:spPr>
      </p:sp>
      <p:sp>
        <p:nvSpPr>
          <p:cNvPr id="19" name="Reason 4 circle"/>
          <p:cNvSpPr/>
          <p:nvPr/>
        </p:nvSpPr>
        <p:spPr>
          <a:xfrm>
            <a:off x="6510528" y="3977640"/>
            <a:ext cx="868680" cy="868680"/>
          </a:xfrm>
          <a:prstGeom prst="ellipse">
            <a:avLst/>
          </a:prstGeom>
          <a:solidFill>
            <a:schemeClr val="tx2">
              <a:alpha val="80000"/>
            </a:schemeClr>
          </a:solidFill>
          <a:ln w="19050">
            <a:solidFill>
              <a:schemeClr val="accent1"/>
            </a:solidFill>
            <a:prstDash val="solid"/>
          </a:ln>
        </p:spPr>
      </p:sp>
      <p:pic>
        <p:nvPicPr>
          <p:cNvPr id="20" name="Reason 4 icon" descr="preencoded.png">    </p:cNvPr>
          <p:cNvPicPr>
            <a:picLocks noChangeAspect="1"/>
          </p:cNvPicPr>
          <p:nvPr/>
        </p:nvPicPr>
        <p:blipFill>
          <a:blip r:embed="rId7"/>
          <a:stretch>
            <a:fillRect/>
          </a:stretch>
        </p:blipFill>
        <p:spPr>
          <a:xfrm>
            <a:off x="6719011" y="4186123"/>
            <a:ext cx="451714" cy="451714"/>
          </a:xfrm>
          <a:prstGeom prst="rect">
            <a:avLst/>
          </a:prstGeom>
        </p:spPr>
      </p:pic>
      <p:sp>
        <p:nvSpPr>
          <p:cNvPr id="21" name="Text 14"/>
          <p:cNvSpPr txBox="1"/>
          <p:nvPr/>
        </p:nvSpPr>
        <p:spPr>
          <a:xfrm>
            <a:off x="7653528" y="3977640"/>
            <a:ext cx="3685032" cy="137160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Proof of what arrived</a:t>
            </a:r>
            <a:endParaRPr lang="en-US" sz="1500" dirty="0"/>
          </a:p>
          <a:p>
            <a:pPr indent="0" marL="0">
              <a:spcAft>
                <a:spcPts val="400"/>
              </a:spcAft>
              <a:buNone/>
            </a:pPr>
            <a:r>
              <a:rPr lang="en-US" sz="1600" dirty="0">
                <a:solidFill>
                  <a:schemeClr val="bg2"/>
                </a:solidFill>
              </a:rPr>
              <a:t>You record what was actually delivered, so shortages are on record.</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Your role as a branch user</a:t>
            </a:r>
            <a:endParaRPr lang="en-US" sz="3400" dirty="0"/>
          </a:p>
        </p:txBody>
      </p:sp>
      <p:sp>
        <p:nvSpPr>
          <p:cNvPr id="6"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Your job: </a:t>
            </a:r>
            <a:pPr indent="0" marL="0">
              <a:spcAft>
                <a:spcPts val="400"/>
              </a:spcAft>
              <a:buNone/>
            </a:pPr>
            <a:r>
              <a:rPr lang="en-US" sz="1700" dirty="0">
                <a:solidFill>
                  <a:schemeClr val="bg1"/>
                </a:solidFill>
              </a:rPr>
              <a:t>tell head office what your branch needs for tomorrow, then confirm what actually arrived.</a:t>
            </a:r>
            <a:endParaRPr lang="en-US" sz="1700" dirty="0"/>
          </a:p>
        </p:txBody>
      </p:sp>
      <p:sp>
        <p:nvSpPr>
          <p:cNvPr id="7" name="You CAN card"/>
          <p:cNvSpPr/>
          <p:nvPr/>
        </p:nvSpPr>
        <p:spPr>
          <a:xfrm>
            <a:off x="548640" y="1783080"/>
            <a:ext cx="5422392" cy="3931920"/>
          </a:xfrm>
          <a:prstGeom prst="roundRect">
            <a:avLst>
              <a:gd name="adj" fmla="val 2791"/>
            </a:avLst>
          </a:prstGeom>
          <a:solidFill>
            <a:schemeClr val="accent6">
              <a:alpha val="88000"/>
            </a:schemeClr>
          </a:solidFill>
          <a:ln w="12700">
            <a:solidFill>
              <a:schemeClr val="accent2"/>
            </a:solidFill>
            <a:prstDash val="solid"/>
          </a:ln>
        </p:spPr>
      </p:sp>
      <p:pic>
        <p:nvPicPr>
          <p:cNvPr id="8" name="You CAN icon" descr="preencoded.png">    </p:cNvPr>
          <p:cNvPicPr>
            <a:picLocks noChangeAspect="1"/>
          </p:cNvPicPr>
          <p:nvPr/>
        </p:nvPicPr>
        <p:blipFill>
          <a:blip r:embed="rId4"/>
          <a:stretch>
            <a:fillRect/>
          </a:stretch>
        </p:blipFill>
        <p:spPr>
          <a:xfrm>
            <a:off x="822960" y="2011680"/>
            <a:ext cx="384048" cy="384048"/>
          </a:xfrm>
          <a:prstGeom prst="rect">
            <a:avLst/>
          </a:prstGeom>
        </p:spPr>
      </p:pic>
      <p:sp>
        <p:nvSpPr>
          <p:cNvPr id="9" name="Text 5"/>
          <p:cNvSpPr txBox="1"/>
          <p:nvPr/>
        </p:nvSpPr>
        <p:spPr>
          <a:xfrm>
            <a:off x="1325880" y="1984248"/>
            <a:ext cx="3657600" cy="457200"/>
          </a:xfrm>
          <a:prstGeom prst="rect">
            <a:avLst/>
          </a:prstGeom>
          <a:noFill/>
          <a:ln/>
        </p:spPr>
        <p:txBody>
          <a:bodyPr wrap="square" lIns="0" tIns="0" rIns="0" bIns="0" rtlCol="0" anchor="ctr"/>
          <a:lstStyle/>
          <a:p>
            <a:pPr indent="0" marL="0">
              <a:spcAft>
                <a:spcPts val="400"/>
              </a:spcAft>
              <a:buNone/>
            </a:pPr>
            <a:r>
              <a:rPr lang="en-US" sz="2000" b="1" dirty="0">
                <a:solidFill>
                  <a:schemeClr val="accent2"/>
                </a:solidFill>
              </a:rPr>
              <a:t>You CAN</a:t>
            </a:r>
            <a:endParaRPr lang="en-US" sz="2000" dirty="0"/>
          </a:p>
        </p:txBody>
      </p:sp>
      <p:sp>
        <p:nvSpPr>
          <p:cNvPr id="10" name="Text 6"/>
          <p:cNvSpPr txBox="1"/>
          <p:nvPr/>
        </p:nvSpPr>
        <p:spPr>
          <a:xfrm>
            <a:off x="868680" y="2606040"/>
            <a:ext cx="4873752" cy="297180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bg1"/>
                </a:solidFill>
              </a:rPr>
              <a:t>Place one order per day for next-day delivery</a:t>
            </a:r>
            <a:endParaRPr lang="en-US" sz="1500" dirty="0"/>
          </a:p>
          <a:p>
            <a:pPr marL="228600" indent="-228600">
              <a:spcAft>
                <a:spcPts val="700"/>
              </a:spcAft>
              <a:buSzPct val="100000"/>
              <a:buChar char="•"/>
            </a:pPr>
            <a:r>
              <a:rPr lang="en-US" sz="1500" dirty="0">
                <a:solidFill>
                  <a:schemeClr val="bg1"/>
                </a:solidFill>
              </a:rPr>
              <a:t>Save an order as a draft and finish it later</a:t>
            </a:r>
            <a:endParaRPr lang="en-US" sz="1500" dirty="0"/>
          </a:p>
          <a:p>
            <a:pPr marL="228600" indent="-228600">
              <a:spcAft>
                <a:spcPts val="700"/>
              </a:spcAft>
              <a:buSzPct val="100000"/>
              <a:buChar char="•"/>
            </a:pPr>
            <a:r>
              <a:rPr lang="en-US" sz="1500" dirty="0">
                <a:solidFill>
                  <a:schemeClr val="bg1"/>
                </a:solidFill>
              </a:rPr>
              <a:t>See your past orders and their status</a:t>
            </a:r>
            <a:endParaRPr lang="en-US" sz="1500" dirty="0"/>
          </a:p>
          <a:p>
            <a:pPr marL="228600" indent="-228600">
              <a:spcAft>
                <a:spcPts val="700"/>
              </a:spcAft>
              <a:buSzPct val="100000"/>
              <a:buChar char="•"/>
            </a:pPr>
            <a:r>
              <a:rPr lang="en-US" sz="1500" dirty="0">
                <a:solidFill>
                  <a:schemeClr val="bg1"/>
                </a:solidFill>
              </a:rPr>
              <a:t>Confirm what was delivered, with notes</a:t>
            </a:r>
            <a:endParaRPr lang="en-US" sz="1500" dirty="0"/>
          </a:p>
          <a:p>
            <a:pPr marL="228600" indent="-228600">
              <a:spcAft>
                <a:spcPts val="700"/>
              </a:spcAft>
              <a:buSzPct val="100000"/>
              <a:buChar char="•"/>
            </a:pPr>
            <a:r>
              <a:rPr lang="en-US" sz="1500" dirty="0">
                <a:solidFill>
                  <a:schemeClr val="bg1"/>
                </a:solidFill>
              </a:rPr>
              <a:t>View purchase orders issued for your branch</a:t>
            </a:r>
            <a:endParaRPr lang="en-US" sz="1500" dirty="0"/>
          </a:p>
          <a:p>
            <a:pPr marL="228600" indent="-228600">
              <a:spcAft>
                <a:spcPts val="700"/>
              </a:spcAft>
              <a:buSzPct val="100000"/>
              <a:buChar char="•"/>
            </a:pPr>
            <a:r>
              <a:rPr lang="en-US" sz="1500" dirty="0">
                <a:solidFill>
                  <a:schemeClr val="bg1"/>
                </a:solidFill>
              </a:rPr>
              <a:t>Set your branch's safety stock levels</a:t>
            </a:r>
            <a:endParaRPr lang="en-US" sz="1500" dirty="0"/>
          </a:p>
          <a:p>
            <a:pPr marL="228600" indent="-228600">
              <a:spcAft>
                <a:spcPts val="700"/>
              </a:spcAft>
              <a:buSzPct val="100000"/>
              <a:buChar char="•"/>
            </a:pPr>
            <a:r>
              <a:rPr lang="en-US" sz="1500" dirty="0">
                <a:solidFill>
                  <a:schemeClr val="bg1"/>
                </a:solidFill>
              </a:rPr>
              <a:t>Message head office</a:t>
            </a:r>
            <a:endParaRPr lang="en-US" sz="1500" dirty="0"/>
          </a:p>
        </p:txBody>
      </p:sp>
      <p:sp>
        <p:nvSpPr>
          <p:cNvPr id="11" name="You CANNOT card"/>
          <p:cNvSpPr/>
          <p:nvPr/>
        </p:nvSpPr>
        <p:spPr>
          <a:xfrm>
            <a:off x="6190488" y="1783080"/>
            <a:ext cx="5422392" cy="3931920"/>
          </a:xfrm>
          <a:prstGeom prst="roundRect">
            <a:avLst>
              <a:gd name="adj" fmla="val 2791"/>
            </a:avLst>
          </a:prstGeom>
          <a:solidFill>
            <a:schemeClr val="accent6">
              <a:alpha val="88000"/>
            </a:schemeClr>
          </a:solidFill>
          <a:ln w="12700">
            <a:solidFill>
              <a:schemeClr val="accent3"/>
            </a:solidFill>
            <a:prstDash val="solid"/>
          </a:ln>
        </p:spPr>
      </p:sp>
      <p:pic>
        <p:nvPicPr>
          <p:cNvPr id="12" name="You CANNOT icon" descr="preencoded.png">    </p:cNvPr>
          <p:cNvPicPr>
            <a:picLocks noChangeAspect="1"/>
          </p:cNvPicPr>
          <p:nvPr/>
        </p:nvPicPr>
        <p:blipFill>
          <a:blip r:embed="rId5"/>
          <a:stretch>
            <a:fillRect/>
          </a:stretch>
        </p:blipFill>
        <p:spPr>
          <a:xfrm>
            <a:off x="6464808" y="2011680"/>
            <a:ext cx="384048" cy="384048"/>
          </a:xfrm>
          <a:prstGeom prst="rect">
            <a:avLst/>
          </a:prstGeom>
        </p:spPr>
      </p:pic>
      <p:sp>
        <p:nvSpPr>
          <p:cNvPr id="13" name="Text 8"/>
          <p:cNvSpPr txBox="1"/>
          <p:nvPr/>
        </p:nvSpPr>
        <p:spPr>
          <a:xfrm>
            <a:off x="6967728" y="1984248"/>
            <a:ext cx="3657600" cy="457200"/>
          </a:xfrm>
          <a:prstGeom prst="rect">
            <a:avLst/>
          </a:prstGeom>
          <a:noFill/>
          <a:ln/>
        </p:spPr>
        <p:txBody>
          <a:bodyPr wrap="square" lIns="0" tIns="0" rIns="0" bIns="0" rtlCol="0" anchor="ctr"/>
          <a:lstStyle/>
          <a:p>
            <a:pPr indent="0" marL="0">
              <a:spcAft>
                <a:spcPts val="400"/>
              </a:spcAft>
              <a:buNone/>
            </a:pPr>
            <a:r>
              <a:rPr lang="en-US" sz="2000" b="1" dirty="0">
                <a:solidFill>
                  <a:schemeClr val="accent3"/>
                </a:solidFill>
              </a:rPr>
              <a:t>You CANNOT</a:t>
            </a:r>
            <a:endParaRPr lang="en-US" sz="2000" dirty="0"/>
          </a:p>
        </p:txBody>
      </p:sp>
      <p:sp>
        <p:nvSpPr>
          <p:cNvPr id="14" name="Text 9"/>
          <p:cNvSpPr txBox="1"/>
          <p:nvPr/>
        </p:nvSpPr>
        <p:spPr>
          <a:xfrm>
            <a:off x="6510528" y="2606040"/>
            <a:ext cx="4873752" cy="297180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chemeClr val="bg1"/>
                </a:solidFill>
              </a:rPr>
              <a:t>Order after the daily cutoff (2:00 PM by default)</a:t>
            </a:r>
            <a:endParaRPr lang="en-US" sz="1500" dirty="0"/>
          </a:p>
          <a:p>
            <a:pPr marL="228600" indent="-228600">
              <a:spcAft>
                <a:spcPts val="700"/>
              </a:spcAft>
              <a:buSzPct val="100000"/>
              <a:buChar char="•"/>
            </a:pPr>
            <a:r>
              <a:rPr lang="en-US" sz="1500" dirty="0">
                <a:solidFill>
                  <a:schemeClr val="bg1"/>
                </a:solidFill>
              </a:rPr>
              <a:t>Change an order once it is submitted</a:t>
            </a:r>
            <a:endParaRPr lang="en-US" sz="1500" dirty="0"/>
          </a:p>
          <a:p>
            <a:pPr marL="228600" indent="-228600">
              <a:spcAft>
                <a:spcPts val="700"/>
              </a:spcAft>
              <a:buSzPct val="100000"/>
              <a:buChar char="•"/>
            </a:pPr>
            <a:r>
              <a:rPr lang="en-US" sz="1500" dirty="0">
                <a:solidFill>
                  <a:schemeClr val="bg1"/>
                </a:solidFill>
              </a:rPr>
              <a:t>Choose or contact suppliers</a:t>
            </a:r>
            <a:endParaRPr lang="en-US" sz="1500" dirty="0"/>
          </a:p>
          <a:p>
            <a:pPr marL="228600" indent="-228600">
              <a:spcAft>
                <a:spcPts val="700"/>
              </a:spcAft>
              <a:buSzPct val="100000"/>
              <a:buChar char="•"/>
            </a:pPr>
            <a:r>
              <a:rPr lang="en-US" sz="1500" dirty="0">
                <a:solidFill>
                  <a:schemeClr val="bg1"/>
                </a:solidFill>
              </a:rPr>
              <a:t>See supplier prices or other branches' orders</a:t>
            </a:r>
            <a:endParaRPr lang="en-US" sz="1500" dirty="0"/>
          </a:p>
          <a:p>
            <a:pPr marL="228600" indent="-228600">
              <a:spcAft>
                <a:spcPts val="700"/>
              </a:spcAft>
              <a:buSzPct val="100000"/>
              <a:buChar char="•"/>
            </a:pPr>
            <a:r>
              <a:rPr lang="en-US" sz="1500" dirty="0">
                <a:solidFill>
                  <a:schemeClr val="bg1"/>
                </a:solidFill>
              </a:rPr>
              <a:t>Open Admin screens, even by typing the address</a:t>
            </a:r>
            <a:endParaRPr lang="en-US" sz="1500" dirty="0"/>
          </a:p>
          <a:p>
            <a:pPr marL="228600" indent="-228600">
              <a:spcAft>
                <a:spcPts val="700"/>
              </a:spcAft>
              <a:buSzPct val="100000"/>
              <a:buChar char="•"/>
            </a:pPr>
            <a:r>
              <a:rPr lang="en-US" sz="1500" dirty="0">
                <a:solidFill>
                  <a:schemeClr val="bg1"/>
                </a:solidFill>
              </a:rPr>
              <a:t>Change products, prices or the cutoff time</a:t>
            </a:r>
            <a:endParaRPr lang="en-US" sz="1500" dirty="0"/>
          </a:p>
        </p:txBody>
      </p:sp>
      <p:sp>
        <p:nvSpPr>
          <p:cNvPr id="15" name="Text 10"/>
          <p:cNvSpPr txBox="1"/>
          <p:nvPr/>
        </p:nvSpPr>
        <p:spPr>
          <a:xfrm>
            <a:off x="548640" y="5852160"/>
            <a:ext cx="11094415" cy="365760"/>
          </a:xfrm>
          <a:prstGeom prst="rect">
            <a:avLst/>
          </a:prstGeom>
          <a:noFill/>
          <a:ln/>
        </p:spPr>
        <p:txBody>
          <a:bodyPr wrap="square" lIns="0" tIns="0" rIns="0" bIns="0" rtlCol="0" anchor="t"/>
          <a:lstStyle/>
          <a:p>
            <a:pPr indent="0" marL="0">
              <a:spcAft>
                <a:spcPts val="400"/>
              </a:spcAft>
              <a:buNone/>
            </a:pPr>
            <a:r>
              <a:rPr lang="en-US" sz="1400" i="1" dirty="0">
                <a:solidFill>
                  <a:schemeClr val="bg2"/>
                </a:solidFill>
              </a:rPr>
              <a:t>One login per branch, shared by the branch team (e.g. br01 for Kurunegala). You only ever see your own branch.</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Your dashboard at a glance</a:t>
            </a:r>
            <a:endParaRPr lang="en-US" sz="3400" dirty="0"/>
          </a:p>
        </p:txBody>
      </p:sp>
      <p:sp>
        <p:nvSpPr>
          <p:cNvPr id="6"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After you sign in, a short welcome screen opens your Branch Dashboard. The menu on the left has six tabs:</a:t>
            </a:r>
            <a:endParaRPr lang="en-US" sz="1600" dirty="0"/>
          </a:p>
        </p:txBody>
      </p:sp>
      <p:sp>
        <p:nvSpPr>
          <p:cNvPr id="7" name="Tab card New Order"/>
          <p:cNvSpPr/>
          <p:nvPr/>
        </p:nvSpPr>
        <p:spPr>
          <a:xfrm>
            <a:off x="548640" y="178308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8" name="Tab New Order circle"/>
          <p:cNvSpPr/>
          <p:nvPr/>
        </p:nvSpPr>
        <p:spPr>
          <a:xfrm>
            <a:off x="731520" y="2002536"/>
            <a:ext cx="640080" cy="640080"/>
          </a:xfrm>
          <a:prstGeom prst="ellipse">
            <a:avLst/>
          </a:prstGeom>
          <a:solidFill>
            <a:schemeClr val="tx2">
              <a:alpha val="80000"/>
            </a:schemeClr>
          </a:solidFill>
          <a:ln w="19050">
            <a:solidFill>
              <a:schemeClr val="accent1"/>
            </a:solidFill>
            <a:prstDash val="solid"/>
          </a:ln>
        </p:spPr>
      </p:sp>
      <p:pic>
        <p:nvPicPr>
          <p:cNvPr id="9" name="Tab New Order icon" descr="preencoded.png">    </p:cNvPr>
          <p:cNvPicPr>
            <a:picLocks noChangeAspect="1"/>
          </p:cNvPicPr>
          <p:nvPr/>
        </p:nvPicPr>
        <p:blipFill>
          <a:blip r:embed="rId4"/>
          <a:stretch>
            <a:fillRect/>
          </a:stretch>
        </p:blipFill>
        <p:spPr>
          <a:xfrm>
            <a:off x="885139" y="2156155"/>
            <a:ext cx="332842" cy="332842"/>
          </a:xfrm>
          <a:prstGeom prst="rect">
            <a:avLst/>
          </a:prstGeom>
        </p:spPr>
      </p:pic>
      <p:sp>
        <p:nvSpPr>
          <p:cNvPr id="10" name="Text 6"/>
          <p:cNvSpPr txBox="1"/>
          <p:nvPr/>
        </p:nvSpPr>
        <p:spPr>
          <a:xfrm>
            <a:off x="1508760" y="192938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New Order</a:t>
            </a:r>
            <a:endParaRPr lang="en-US" sz="1500" dirty="0"/>
          </a:p>
          <a:p>
            <a:pPr indent="0" marL="0">
              <a:spcAft>
                <a:spcPts val="400"/>
              </a:spcAft>
              <a:buNone/>
            </a:pPr>
            <a:r>
              <a:rPr lang="en-US" sz="1400" dirty="0">
                <a:solidFill>
                  <a:schemeClr val="bg2"/>
                </a:solidFill>
              </a:rPr>
              <a:t>Place tomorrow's order</a:t>
            </a:r>
            <a:endParaRPr lang="en-US" sz="1500" dirty="0"/>
          </a:p>
        </p:txBody>
      </p:sp>
      <p:sp>
        <p:nvSpPr>
          <p:cNvPr id="11" name="Tab card My Orders"/>
          <p:cNvSpPr/>
          <p:nvPr/>
        </p:nvSpPr>
        <p:spPr>
          <a:xfrm>
            <a:off x="3858768" y="178308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12" name="Tab My Orders circle"/>
          <p:cNvSpPr/>
          <p:nvPr/>
        </p:nvSpPr>
        <p:spPr>
          <a:xfrm>
            <a:off x="4041648" y="2002536"/>
            <a:ext cx="640080" cy="640080"/>
          </a:xfrm>
          <a:prstGeom prst="ellipse">
            <a:avLst/>
          </a:prstGeom>
          <a:solidFill>
            <a:schemeClr val="tx2">
              <a:alpha val="80000"/>
            </a:schemeClr>
          </a:solidFill>
          <a:ln w="19050">
            <a:solidFill>
              <a:schemeClr val="accent1"/>
            </a:solidFill>
            <a:prstDash val="solid"/>
          </a:ln>
        </p:spPr>
      </p:sp>
      <p:pic>
        <p:nvPicPr>
          <p:cNvPr id="13" name="Tab My Orders icon" descr="preencoded.png">    </p:cNvPr>
          <p:cNvPicPr>
            <a:picLocks noChangeAspect="1"/>
          </p:cNvPicPr>
          <p:nvPr/>
        </p:nvPicPr>
        <p:blipFill>
          <a:blip r:embed="rId5"/>
          <a:stretch>
            <a:fillRect/>
          </a:stretch>
        </p:blipFill>
        <p:spPr>
          <a:xfrm>
            <a:off x="4195267" y="2156155"/>
            <a:ext cx="332842" cy="332842"/>
          </a:xfrm>
          <a:prstGeom prst="rect">
            <a:avLst/>
          </a:prstGeom>
        </p:spPr>
      </p:pic>
      <p:sp>
        <p:nvSpPr>
          <p:cNvPr id="14" name="Text 9"/>
          <p:cNvSpPr txBox="1"/>
          <p:nvPr/>
        </p:nvSpPr>
        <p:spPr>
          <a:xfrm>
            <a:off x="4818888" y="192938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My Orders</a:t>
            </a:r>
            <a:endParaRPr lang="en-US" sz="1500" dirty="0"/>
          </a:p>
          <a:p>
            <a:pPr indent="0" marL="0">
              <a:spcAft>
                <a:spcPts val="400"/>
              </a:spcAft>
              <a:buNone/>
            </a:pPr>
            <a:r>
              <a:rPr lang="en-US" sz="1400" dirty="0">
                <a:solidFill>
                  <a:schemeClr val="bg2"/>
                </a:solidFill>
              </a:rPr>
              <a:t>Track orders, confirm deliveries</a:t>
            </a:r>
            <a:endParaRPr lang="en-US" sz="1500" dirty="0"/>
          </a:p>
        </p:txBody>
      </p:sp>
      <p:sp>
        <p:nvSpPr>
          <p:cNvPr id="15" name="Tab card Purchase Orders"/>
          <p:cNvSpPr/>
          <p:nvPr/>
        </p:nvSpPr>
        <p:spPr>
          <a:xfrm>
            <a:off x="548640" y="301752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16" name="Tab Purchase Orders circle"/>
          <p:cNvSpPr/>
          <p:nvPr/>
        </p:nvSpPr>
        <p:spPr>
          <a:xfrm>
            <a:off x="731520" y="3236976"/>
            <a:ext cx="640080" cy="640080"/>
          </a:xfrm>
          <a:prstGeom prst="ellipse">
            <a:avLst/>
          </a:prstGeom>
          <a:solidFill>
            <a:schemeClr val="tx2">
              <a:alpha val="80000"/>
            </a:schemeClr>
          </a:solidFill>
          <a:ln w="19050">
            <a:solidFill>
              <a:schemeClr val="accent1"/>
            </a:solidFill>
            <a:prstDash val="solid"/>
          </a:ln>
        </p:spPr>
      </p:sp>
      <p:pic>
        <p:nvPicPr>
          <p:cNvPr id="17" name="Tab Purchase Orders icon" descr="preencoded.png">    </p:cNvPr>
          <p:cNvPicPr>
            <a:picLocks noChangeAspect="1"/>
          </p:cNvPicPr>
          <p:nvPr/>
        </p:nvPicPr>
        <p:blipFill>
          <a:blip r:embed="rId6"/>
          <a:stretch>
            <a:fillRect/>
          </a:stretch>
        </p:blipFill>
        <p:spPr>
          <a:xfrm>
            <a:off x="885139" y="3390595"/>
            <a:ext cx="332842" cy="332842"/>
          </a:xfrm>
          <a:prstGeom prst="rect">
            <a:avLst/>
          </a:prstGeom>
        </p:spPr>
      </p:pic>
      <p:sp>
        <p:nvSpPr>
          <p:cNvPr id="18" name="Text 12"/>
          <p:cNvSpPr txBox="1"/>
          <p:nvPr/>
        </p:nvSpPr>
        <p:spPr>
          <a:xfrm>
            <a:off x="1508760" y="316382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Purchase Orders</a:t>
            </a:r>
            <a:endParaRPr lang="en-US" sz="1500" dirty="0"/>
          </a:p>
          <a:p>
            <a:pPr indent="0" marL="0">
              <a:spcAft>
                <a:spcPts val="400"/>
              </a:spcAft>
              <a:buNone/>
            </a:pPr>
            <a:r>
              <a:rPr lang="en-US" sz="1400" dirty="0">
                <a:solidFill>
                  <a:schemeClr val="bg2"/>
                </a:solidFill>
              </a:rPr>
              <a:t>What was ordered for your branch</a:t>
            </a:r>
            <a:endParaRPr lang="en-US" sz="1500" dirty="0"/>
          </a:p>
        </p:txBody>
      </p:sp>
      <p:sp>
        <p:nvSpPr>
          <p:cNvPr id="19" name="Tab card Safety Stock"/>
          <p:cNvSpPr/>
          <p:nvPr/>
        </p:nvSpPr>
        <p:spPr>
          <a:xfrm>
            <a:off x="3858768" y="301752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0" name="Tab Safety Stock circle"/>
          <p:cNvSpPr/>
          <p:nvPr/>
        </p:nvSpPr>
        <p:spPr>
          <a:xfrm>
            <a:off x="4041648" y="3236976"/>
            <a:ext cx="640080" cy="640080"/>
          </a:xfrm>
          <a:prstGeom prst="ellipse">
            <a:avLst/>
          </a:prstGeom>
          <a:solidFill>
            <a:schemeClr val="tx2">
              <a:alpha val="80000"/>
            </a:schemeClr>
          </a:solidFill>
          <a:ln w="19050">
            <a:solidFill>
              <a:schemeClr val="accent1"/>
            </a:solidFill>
            <a:prstDash val="solid"/>
          </a:ln>
        </p:spPr>
      </p:sp>
      <p:pic>
        <p:nvPicPr>
          <p:cNvPr id="21" name="Tab Safety Stock icon" descr="preencoded.png">    </p:cNvPr>
          <p:cNvPicPr>
            <a:picLocks noChangeAspect="1"/>
          </p:cNvPicPr>
          <p:nvPr/>
        </p:nvPicPr>
        <p:blipFill>
          <a:blip r:embed="rId7"/>
          <a:stretch>
            <a:fillRect/>
          </a:stretch>
        </p:blipFill>
        <p:spPr>
          <a:xfrm>
            <a:off x="4195267" y="3390595"/>
            <a:ext cx="332842" cy="332842"/>
          </a:xfrm>
          <a:prstGeom prst="rect">
            <a:avLst/>
          </a:prstGeom>
        </p:spPr>
      </p:pic>
      <p:sp>
        <p:nvSpPr>
          <p:cNvPr id="22" name="Text 15"/>
          <p:cNvSpPr txBox="1"/>
          <p:nvPr/>
        </p:nvSpPr>
        <p:spPr>
          <a:xfrm>
            <a:off x="4818888" y="316382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Safety Stock</a:t>
            </a:r>
            <a:endParaRPr lang="en-US" sz="1500" dirty="0"/>
          </a:p>
          <a:p>
            <a:pPr indent="0" marL="0">
              <a:spcAft>
                <a:spcPts val="400"/>
              </a:spcAft>
              <a:buNone/>
            </a:pPr>
            <a:r>
              <a:rPr lang="en-US" sz="1400" dirty="0">
                <a:solidFill>
                  <a:schemeClr val="bg2"/>
                </a:solidFill>
              </a:rPr>
              <a:t>Set your minimum stock levels</a:t>
            </a:r>
            <a:endParaRPr lang="en-US" sz="1500" dirty="0"/>
          </a:p>
        </p:txBody>
      </p:sp>
      <p:sp>
        <p:nvSpPr>
          <p:cNvPr id="23" name="Tab card Messages"/>
          <p:cNvSpPr/>
          <p:nvPr/>
        </p:nvSpPr>
        <p:spPr>
          <a:xfrm>
            <a:off x="548640" y="425196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4" name="Tab Messages circle"/>
          <p:cNvSpPr/>
          <p:nvPr/>
        </p:nvSpPr>
        <p:spPr>
          <a:xfrm>
            <a:off x="731520" y="4471416"/>
            <a:ext cx="640080" cy="640080"/>
          </a:xfrm>
          <a:prstGeom prst="ellipse">
            <a:avLst/>
          </a:prstGeom>
          <a:solidFill>
            <a:schemeClr val="tx2">
              <a:alpha val="80000"/>
            </a:schemeClr>
          </a:solidFill>
          <a:ln w="19050">
            <a:solidFill>
              <a:schemeClr val="accent1"/>
            </a:solidFill>
            <a:prstDash val="solid"/>
          </a:ln>
        </p:spPr>
      </p:sp>
      <p:pic>
        <p:nvPicPr>
          <p:cNvPr id="25" name="Tab Messages icon" descr="preencoded.png">    </p:cNvPr>
          <p:cNvPicPr>
            <a:picLocks noChangeAspect="1"/>
          </p:cNvPicPr>
          <p:nvPr/>
        </p:nvPicPr>
        <p:blipFill>
          <a:blip r:embed="rId8"/>
          <a:stretch>
            <a:fillRect/>
          </a:stretch>
        </p:blipFill>
        <p:spPr>
          <a:xfrm>
            <a:off x="885139" y="4625035"/>
            <a:ext cx="332842" cy="332842"/>
          </a:xfrm>
          <a:prstGeom prst="rect">
            <a:avLst/>
          </a:prstGeom>
        </p:spPr>
      </p:pic>
      <p:sp>
        <p:nvSpPr>
          <p:cNvPr id="26" name="Text 18"/>
          <p:cNvSpPr txBox="1"/>
          <p:nvPr/>
        </p:nvSpPr>
        <p:spPr>
          <a:xfrm>
            <a:off x="1508760" y="439826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Messages</a:t>
            </a:r>
            <a:endParaRPr lang="en-US" sz="1500" dirty="0"/>
          </a:p>
          <a:p>
            <a:pPr indent="0" marL="0">
              <a:spcAft>
                <a:spcPts val="400"/>
              </a:spcAft>
              <a:buNone/>
            </a:pPr>
            <a:r>
              <a:rPr lang="en-US" sz="1400" dirty="0">
                <a:solidFill>
                  <a:schemeClr val="bg2"/>
                </a:solidFill>
              </a:rPr>
              <a:t>Chat with head office</a:t>
            </a:r>
            <a:endParaRPr lang="en-US" sz="1500" dirty="0"/>
          </a:p>
        </p:txBody>
      </p:sp>
      <p:sp>
        <p:nvSpPr>
          <p:cNvPr id="27" name="Tab card Branch Guidelines"/>
          <p:cNvSpPr/>
          <p:nvPr/>
        </p:nvSpPr>
        <p:spPr>
          <a:xfrm>
            <a:off x="3858768" y="4251960"/>
            <a:ext cx="3127248" cy="1069848"/>
          </a:xfrm>
          <a:prstGeom prst="roundRect">
            <a:avLst>
              <a:gd name="adj" fmla="val 10256"/>
            </a:avLst>
          </a:prstGeom>
          <a:solidFill>
            <a:schemeClr val="accent6">
              <a:alpha val="88000"/>
            </a:schemeClr>
          </a:solidFill>
          <a:ln w="12700">
            <a:solidFill>
              <a:schemeClr val="accent5"/>
            </a:solidFill>
            <a:prstDash val="solid"/>
          </a:ln>
        </p:spPr>
      </p:sp>
      <p:sp>
        <p:nvSpPr>
          <p:cNvPr id="28" name="Tab Branch Guidelines circle"/>
          <p:cNvSpPr/>
          <p:nvPr/>
        </p:nvSpPr>
        <p:spPr>
          <a:xfrm>
            <a:off x="4041648" y="4471416"/>
            <a:ext cx="640080" cy="640080"/>
          </a:xfrm>
          <a:prstGeom prst="ellipse">
            <a:avLst/>
          </a:prstGeom>
          <a:solidFill>
            <a:schemeClr val="tx2">
              <a:alpha val="80000"/>
            </a:schemeClr>
          </a:solidFill>
          <a:ln w="19050">
            <a:solidFill>
              <a:schemeClr val="accent1"/>
            </a:solidFill>
            <a:prstDash val="solid"/>
          </a:ln>
        </p:spPr>
      </p:sp>
      <p:pic>
        <p:nvPicPr>
          <p:cNvPr id="29" name="Tab Branch Guidelines icon" descr="preencoded.png">    </p:cNvPr>
          <p:cNvPicPr>
            <a:picLocks noChangeAspect="1"/>
          </p:cNvPicPr>
          <p:nvPr/>
        </p:nvPicPr>
        <p:blipFill>
          <a:blip r:embed="rId9"/>
          <a:stretch>
            <a:fillRect/>
          </a:stretch>
        </p:blipFill>
        <p:spPr>
          <a:xfrm>
            <a:off x="4195267" y="4625035"/>
            <a:ext cx="332842" cy="332842"/>
          </a:xfrm>
          <a:prstGeom prst="rect">
            <a:avLst/>
          </a:prstGeom>
        </p:spPr>
      </p:pic>
      <p:sp>
        <p:nvSpPr>
          <p:cNvPr id="30" name="Text 21"/>
          <p:cNvSpPr txBox="1"/>
          <p:nvPr/>
        </p:nvSpPr>
        <p:spPr>
          <a:xfrm>
            <a:off x="4818888" y="4398264"/>
            <a:ext cx="2029968" cy="8229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Branch Guidelines</a:t>
            </a:r>
            <a:endParaRPr lang="en-US" sz="1500" dirty="0"/>
          </a:p>
          <a:p>
            <a:pPr indent="0" marL="0">
              <a:spcAft>
                <a:spcPts val="400"/>
              </a:spcAft>
              <a:buNone/>
            </a:pPr>
            <a:r>
              <a:rPr lang="en-US" sz="1400" dirty="0">
                <a:solidFill>
                  <a:schemeClr val="bg2"/>
                </a:solidFill>
              </a:rPr>
              <a:t>The rules, in Sinhala and English</a:t>
            </a:r>
            <a:endParaRPr lang="en-US" sz="1500" dirty="0"/>
          </a:p>
        </p:txBody>
      </p:sp>
      <p:sp>
        <p:nvSpPr>
          <p:cNvPr id="31" name="Screenshot placeholder"/>
          <p:cNvSpPr/>
          <p:nvPr/>
        </p:nvSpPr>
        <p:spPr>
          <a:xfrm>
            <a:off x="7406640" y="1783080"/>
            <a:ext cx="4233672" cy="3538728"/>
          </a:xfrm>
          <a:prstGeom prst="roundRect">
            <a:avLst>
              <a:gd name="adj" fmla="val 3101"/>
            </a:avLst>
          </a:prstGeom>
          <a:solidFill>
            <a:schemeClr val="tx2">
              <a:alpha val="65000"/>
            </a:schemeClr>
          </a:solidFill>
          <a:ln w="15875">
            <a:solidFill>
              <a:schemeClr val="accent1"/>
            </a:solidFill>
            <a:prstDash val="dash"/>
          </a:ln>
        </p:spPr>
      </p:sp>
      <p:pic>
        <p:nvPicPr>
          <p:cNvPr id="32" name="Screenshot icon" descr="preencoded.png">    </p:cNvPr>
          <p:cNvPicPr>
            <a:picLocks noChangeAspect="1"/>
          </p:cNvPicPr>
          <p:nvPr/>
        </p:nvPicPr>
        <p:blipFill>
          <a:blip r:embed="rId10"/>
          <a:stretch>
            <a:fillRect/>
          </a:stretch>
        </p:blipFill>
        <p:spPr>
          <a:xfrm>
            <a:off x="9249156" y="2912364"/>
            <a:ext cx="548640" cy="548640"/>
          </a:xfrm>
          <a:prstGeom prst="rect">
            <a:avLst/>
          </a:prstGeom>
        </p:spPr>
      </p:pic>
      <p:sp>
        <p:nvSpPr>
          <p:cNvPr id="33" name="Screenshot label"/>
          <p:cNvSpPr txBox="1"/>
          <p:nvPr/>
        </p:nvSpPr>
        <p:spPr>
          <a:xfrm>
            <a:off x="7680960" y="3598164"/>
            <a:ext cx="368503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Branch Dashboard with the six tabs labelled</a:t>
            </a:r>
            <a:endParaRPr lang="en-US" sz="1300" dirty="0"/>
          </a:p>
        </p:txBody>
      </p:sp>
      <p:sp>
        <p:nvSpPr>
          <p:cNvPr id="34"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35" name="Benefit icon" descr="preencoded.png">    </p:cNvPr>
          <p:cNvPicPr>
            <a:picLocks noChangeAspect="1"/>
          </p:cNvPicPr>
          <p:nvPr/>
        </p:nvPicPr>
        <p:blipFill>
          <a:blip r:embed="rId11"/>
          <a:stretch>
            <a:fillRect/>
          </a:stretch>
        </p:blipFill>
        <p:spPr>
          <a:xfrm>
            <a:off x="749808" y="5733288"/>
            <a:ext cx="292608" cy="292608"/>
          </a:xfrm>
          <a:prstGeom prst="rect">
            <a:avLst/>
          </a:prstGeom>
        </p:spPr>
      </p:pic>
      <p:sp>
        <p:nvSpPr>
          <p:cNvPr id="36" name="Text 25"/>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Everything for your branch is in one place, with no paperwork.</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Viewing products and stock in hand</a:t>
            </a:r>
            <a:endParaRPr lang="en-US" sz="3400" dirty="0"/>
          </a:p>
        </p:txBody>
      </p:sp>
      <p:sp>
        <p:nvSpPr>
          <p:cNvPr id="6" name="Product point 1 circle"/>
          <p:cNvSpPr/>
          <p:nvPr/>
        </p:nvSpPr>
        <p:spPr>
          <a:xfrm>
            <a:off x="548640" y="1463040"/>
            <a:ext cx="685800" cy="685800"/>
          </a:xfrm>
          <a:prstGeom prst="ellipse">
            <a:avLst/>
          </a:prstGeom>
          <a:solidFill>
            <a:schemeClr val="tx2">
              <a:alpha val="80000"/>
            </a:schemeClr>
          </a:solidFill>
          <a:ln w="19050">
            <a:solidFill>
              <a:schemeClr val="accent1"/>
            </a:solidFill>
            <a:prstDash val="solid"/>
          </a:ln>
        </p:spPr>
      </p:sp>
      <p:pic>
        <p:nvPicPr>
          <p:cNvPr id="7" name="Product point 1 icon" descr="preencoded.png">    </p:cNvPr>
          <p:cNvPicPr>
            <a:picLocks noChangeAspect="1"/>
          </p:cNvPicPr>
          <p:nvPr/>
        </p:nvPicPr>
        <p:blipFill>
          <a:blip r:embed="rId4"/>
          <a:stretch>
            <a:fillRect/>
          </a:stretch>
        </p:blipFill>
        <p:spPr>
          <a:xfrm>
            <a:off x="713232" y="1627632"/>
            <a:ext cx="356616" cy="356616"/>
          </a:xfrm>
          <a:prstGeom prst="rect">
            <a:avLst/>
          </a:prstGeom>
        </p:spPr>
      </p:pic>
      <p:sp>
        <p:nvSpPr>
          <p:cNvPr id="8" name="Text 4"/>
          <p:cNvSpPr txBox="1"/>
          <p:nvPr/>
        </p:nvSpPr>
        <p:spPr>
          <a:xfrm>
            <a:off x="1463040" y="1481328"/>
            <a:ext cx="5394960" cy="868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Every item you can order</a:t>
            </a:r>
            <a:endParaRPr lang="en-US" sz="1500" dirty="0"/>
          </a:p>
          <a:p>
            <a:pPr indent="0" marL="0">
              <a:spcAft>
                <a:spcPts val="400"/>
              </a:spcAft>
              <a:buNone/>
            </a:pPr>
            <a:r>
              <a:rPr lang="en-US" sz="1500" dirty="0">
                <a:solidFill>
                  <a:schemeClr val="bg2"/>
                </a:solidFill>
              </a:rPr>
              <a:t>with its code, category and unit (kg, pcs)</a:t>
            </a:r>
            <a:endParaRPr lang="en-US" sz="1500" dirty="0"/>
          </a:p>
        </p:txBody>
      </p:sp>
      <p:sp>
        <p:nvSpPr>
          <p:cNvPr id="9" name="Product point 2 circle"/>
          <p:cNvSpPr/>
          <p:nvPr/>
        </p:nvSpPr>
        <p:spPr>
          <a:xfrm>
            <a:off x="548640" y="2450592"/>
            <a:ext cx="685800" cy="685800"/>
          </a:xfrm>
          <a:prstGeom prst="ellipse">
            <a:avLst/>
          </a:prstGeom>
          <a:solidFill>
            <a:schemeClr val="tx2">
              <a:alpha val="80000"/>
            </a:schemeClr>
          </a:solidFill>
          <a:ln w="19050">
            <a:solidFill>
              <a:schemeClr val="accent1"/>
            </a:solidFill>
            <a:prstDash val="solid"/>
          </a:ln>
        </p:spPr>
      </p:sp>
      <p:pic>
        <p:nvPicPr>
          <p:cNvPr id="10" name="Product point 2 icon" descr="preencoded.png">    </p:cNvPr>
          <p:cNvPicPr>
            <a:picLocks noChangeAspect="1"/>
          </p:cNvPicPr>
          <p:nvPr/>
        </p:nvPicPr>
        <p:blipFill>
          <a:blip r:embed="rId5"/>
          <a:stretch>
            <a:fillRect/>
          </a:stretch>
        </p:blipFill>
        <p:spPr>
          <a:xfrm>
            <a:off x="713232" y="2615184"/>
            <a:ext cx="356616" cy="356616"/>
          </a:xfrm>
          <a:prstGeom prst="rect">
            <a:avLst/>
          </a:prstGeom>
        </p:spPr>
      </p:pic>
      <p:sp>
        <p:nvSpPr>
          <p:cNvPr id="11" name="Text 6"/>
          <p:cNvSpPr txBox="1"/>
          <p:nvPr/>
        </p:nvSpPr>
        <p:spPr>
          <a:xfrm>
            <a:off x="1463040" y="2468880"/>
            <a:ext cx="5394960" cy="868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Search and filter</a:t>
            </a:r>
            <a:endParaRPr lang="en-US" sz="1500" dirty="0"/>
          </a:p>
          <a:p>
            <a:pPr indent="0" marL="0">
              <a:spcAft>
                <a:spcPts val="400"/>
              </a:spcAft>
              <a:buNone/>
            </a:pPr>
            <a:r>
              <a:rPr lang="en-US" sz="1500" dirty="0">
                <a:solidFill>
                  <a:schemeClr val="bg2"/>
                </a:solidFill>
              </a:rPr>
              <a:t>by name, or by category</a:t>
            </a:r>
            <a:endParaRPr lang="en-US" sz="1500" dirty="0"/>
          </a:p>
        </p:txBody>
      </p:sp>
      <p:sp>
        <p:nvSpPr>
          <p:cNvPr id="12" name="Product point 3 circle"/>
          <p:cNvSpPr/>
          <p:nvPr/>
        </p:nvSpPr>
        <p:spPr>
          <a:xfrm>
            <a:off x="548640" y="3438144"/>
            <a:ext cx="685800" cy="685800"/>
          </a:xfrm>
          <a:prstGeom prst="ellipse">
            <a:avLst/>
          </a:prstGeom>
          <a:solidFill>
            <a:schemeClr val="tx2">
              <a:alpha val="80000"/>
            </a:schemeClr>
          </a:solidFill>
          <a:ln w="19050">
            <a:solidFill>
              <a:schemeClr val="accent1"/>
            </a:solidFill>
            <a:prstDash val="solid"/>
          </a:ln>
        </p:spPr>
      </p:sp>
      <p:pic>
        <p:nvPicPr>
          <p:cNvPr id="13" name="Product point 3 icon" descr="preencoded.png">    </p:cNvPr>
          <p:cNvPicPr>
            <a:picLocks noChangeAspect="1"/>
          </p:cNvPicPr>
          <p:nvPr/>
        </p:nvPicPr>
        <p:blipFill>
          <a:blip r:embed="rId6"/>
          <a:stretch>
            <a:fillRect/>
          </a:stretch>
        </p:blipFill>
        <p:spPr>
          <a:xfrm>
            <a:off x="713232" y="3602736"/>
            <a:ext cx="356616" cy="356616"/>
          </a:xfrm>
          <a:prstGeom prst="rect">
            <a:avLst/>
          </a:prstGeom>
        </p:spPr>
      </p:pic>
      <p:sp>
        <p:nvSpPr>
          <p:cNvPr id="14" name="Text 8"/>
          <p:cNvSpPr txBox="1"/>
          <p:nvPr/>
        </p:nvSpPr>
        <p:spPr>
          <a:xfrm>
            <a:off x="1463040" y="3456432"/>
            <a:ext cx="5394960" cy="868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Stock in Hand</a:t>
            </a:r>
            <a:endParaRPr lang="en-US" sz="1500" dirty="0"/>
          </a:p>
          <a:p>
            <a:pPr indent="0" marL="0">
              <a:spcAft>
                <a:spcPts val="400"/>
              </a:spcAft>
              <a:buNone/>
            </a:pPr>
            <a:r>
              <a:rPr lang="en-US" sz="1500" dirty="0">
                <a:solidFill>
                  <a:schemeClr val="bg2"/>
                </a:solidFill>
              </a:rPr>
              <a:t>your current stock, from your till (POS) system; "—" if unavailable</a:t>
            </a:r>
            <a:endParaRPr lang="en-US" sz="1500" dirty="0"/>
          </a:p>
        </p:txBody>
      </p:sp>
      <p:sp>
        <p:nvSpPr>
          <p:cNvPr id="15" name="Product point 4 circle"/>
          <p:cNvSpPr/>
          <p:nvPr/>
        </p:nvSpPr>
        <p:spPr>
          <a:xfrm>
            <a:off x="548640" y="4425696"/>
            <a:ext cx="685800" cy="685800"/>
          </a:xfrm>
          <a:prstGeom prst="ellipse">
            <a:avLst/>
          </a:prstGeom>
          <a:solidFill>
            <a:schemeClr val="tx2">
              <a:alpha val="80000"/>
            </a:schemeClr>
          </a:solidFill>
          <a:ln w="19050">
            <a:solidFill>
              <a:schemeClr val="accent1"/>
            </a:solidFill>
            <a:prstDash val="solid"/>
          </a:ln>
        </p:spPr>
      </p:sp>
      <p:pic>
        <p:nvPicPr>
          <p:cNvPr id="16" name="Product point 4 icon" descr="preencoded.png">    </p:cNvPr>
          <p:cNvPicPr>
            <a:picLocks noChangeAspect="1"/>
          </p:cNvPicPr>
          <p:nvPr/>
        </p:nvPicPr>
        <p:blipFill>
          <a:blip r:embed="rId7"/>
          <a:stretch>
            <a:fillRect/>
          </a:stretch>
        </p:blipFill>
        <p:spPr>
          <a:xfrm>
            <a:off x="713232" y="4590288"/>
            <a:ext cx="356616" cy="356616"/>
          </a:xfrm>
          <a:prstGeom prst="rect">
            <a:avLst/>
          </a:prstGeom>
        </p:spPr>
      </p:pic>
      <p:sp>
        <p:nvSpPr>
          <p:cNvPr id="17" name="Text 10"/>
          <p:cNvSpPr txBox="1"/>
          <p:nvPr/>
        </p:nvSpPr>
        <p:spPr>
          <a:xfrm>
            <a:off x="1463040" y="4443984"/>
            <a:ext cx="5394960" cy="868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Promotion badges</a:t>
            </a:r>
            <a:endParaRPr lang="en-US" sz="1500" dirty="0"/>
          </a:p>
          <a:p>
            <a:pPr indent="0" marL="0">
              <a:spcAft>
                <a:spcPts val="400"/>
              </a:spcAft>
              <a:buNone/>
            </a:pPr>
            <a:r>
              <a:rPr lang="en-US" sz="1500" dirty="0">
                <a:solidFill>
                  <a:schemeClr val="bg2"/>
                </a:solidFill>
              </a:rPr>
              <a:t>mark items on promotion; hover a name to see its photo</a:t>
            </a:r>
            <a:endParaRPr lang="en-US" sz="1500" dirty="0"/>
          </a:p>
        </p:txBody>
      </p:sp>
      <p:sp>
        <p:nvSpPr>
          <p:cNvPr id="18" name="Screenshot placeholder"/>
          <p:cNvSpPr/>
          <p:nvPr/>
        </p:nvSpPr>
        <p:spPr>
          <a:xfrm>
            <a:off x="7040880" y="1463040"/>
            <a:ext cx="4599432" cy="3840480"/>
          </a:xfrm>
          <a:prstGeom prst="roundRect">
            <a:avLst>
              <a:gd name="adj" fmla="val 2857"/>
            </a:avLst>
          </a:prstGeom>
          <a:solidFill>
            <a:schemeClr val="tx2">
              <a:alpha val="65000"/>
            </a:schemeClr>
          </a:solidFill>
          <a:ln w="15875">
            <a:solidFill>
              <a:schemeClr val="accent1"/>
            </a:solidFill>
            <a:prstDash val="dash"/>
          </a:ln>
        </p:spPr>
      </p:sp>
      <p:pic>
        <p:nvPicPr>
          <p:cNvPr id="19" name="Screenshot icon" descr="preencoded.png">    </p:cNvPr>
          <p:cNvPicPr>
            <a:picLocks noChangeAspect="1"/>
          </p:cNvPicPr>
          <p:nvPr/>
        </p:nvPicPr>
        <p:blipFill>
          <a:blip r:embed="rId8"/>
          <a:stretch>
            <a:fillRect/>
          </a:stretch>
        </p:blipFill>
        <p:spPr>
          <a:xfrm>
            <a:off x="9066276" y="2743200"/>
            <a:ext cx="548640" cy="548640"/>
          </a:xfrm>
          <a:prstGeom prst="rect">
            <a:avLst/>
          </a:prstGeom>
        </p:spPr>
      </p:pic>
      <p:sp>
        <p:nvSpPr>
          <p:cNvPr id="20" name="Screenshot label"/>
          <p:cNvSpPr txBox="1"/>
          <p:nvPr/>
        </p:nvSpPr>
        <p:spPr>
          <a:xfrm>
            <a:off x="7315200" y="3429000"/>
            <a:ext cx="40507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Product list: search, category filter, Stock in Hand, promotion badge</a:t>
            </a:r>
            <a:endParaRPr lang="en-US" sz="1300" dirty="0"/>
          </a:p>
        </p:txBody>
      </p:sp>
      <p:sp>
        <p:nvSpPr>
          <p:cNvPr id="21"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2" name="Benefit icon" descr="preencoded.png">    </p:cNvPr>
          <p:cNvPicPr>
            <a:picLocks noChangeAspect="1"/>
          </p:cNvPicPr>
          <p:nvPr/>
        </p:nvPicPr>
        <p:blipFill>
          <a:blip r:embed="rId9"/>
          <a:stretch>
            <a:fillRect/>
          </a:stretch>
        </p:blipFill>
        <p:spPr>
          <a:xfrm>
            <a:off x="749808" y="5733288"/>
            <a:ext cx="292608" cy="292608"/>
          </a:xfrm>
          <a:prstGeom prst="rect">
            <a:avLst/>
          </a:prstGeom>
        </p:spPr>
      </p:pic>
      <p:sp>
        <p:nvSpPr>
          <p:cNvPr id="23" name="Text 14"/>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See what you already have before you order: less over-ordering, less waste.</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Placing a new order</a:t>
            </a:r>
            <a:endParaRPr lang="en-US" sz="3400" dirty="0"/>
          </a:p>
        </p:txBody>
      </p:sp>
      <p:sp>
        <p:nvSpPr>
          <p:cNvPr id="6" name="Step card 1"/>
          <p:cNvSpPr/>
          <p:nvPr/>
        </p:nvSpPr>
        <p:spPr>
          <a:xfrm>
            <a:off x="548640"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7" name="Text 4"/>
          <p:cNvSpPr txBox="1"/>
          <p:nvPr/>
        </p:nvSpPr>
        <p:spPr>
          <a:xfrm>
            <a:off x="777240"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1</a:t>
            </a:r>
            <a:endParaRPr lang="en-US" sz="4000" dirty="0"/>
          </a:p>
        </p:txBody>
      </p:sp>
      <p:sp>
        <p:nvSpPr>
          <p:cNvPr id="8" name="Text 5"/>
          <p:cNvSpPr txBox="1"/>
          <p:nvPr/>
        </p:nvSpPr>
        <p:spPr>
          <a:xfrm>
            <a:off x="777240"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Open New Order</a:t>
            </a:r>
            <a:endParaRPr lang="en-US" sz="1500" dirty="0"/>
          </a:p>
          <a:p>
            <a:pPr indent="0" marL="0">
              <a:spcAft>
                <a:spcPts val="400"/>
              </a:spcAft>
              <a:buNone/>
            </a:pPr>
            <a:r>
              <a:rPr lang="en-US" sz="1400" dirty="0">
                <a:solidFill>
                  <a:schemeClr val="bg2"/>
                </a:solidFill>
              </a:rPr>
              <a:t>The top line shows the delivery date (always tomorrow) and today's closing time.</a:t>
            </a:r>
            <a:endParaRPr lang="en-US" sz="1500" dirty="0"/>
          </a:p>
        </p:txBody>
      </p:sp>
      <p:sp>
        <p:nvSpPr>
          <p:cNvPr id="9" name="Step card 2"/>
          <p:cNvSpPr/>
          <p:nvPr/>
        </p:nvSpPr>
        <p:spPr>
          <a:xfrm>
            <a:off x="3355848"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10" name="Text 7"/>
          <p:cNvSpPr txBox="1"/>
          <p:nvPr/>
        </p:nvSpPr>
        <p:spPr>
          <a:xfrm>
            <a:off x="3584448"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2</a:t>
            </a:r>
            <a:endParaRPr lang="en-US" sz="4000" dirty="0"/>
          </a:p>
        </p:txBody>
      </p:sp>
      <p:sp>
        <p:nvSpPr>
          <p:cNvPr id="11" name="Text 8"/>
          <p:cNvSpPr txBox="1"/>
          <p:nvPr/>
        </p:nvSpPr>
        <p:spPr>
          <a:xfrm>
            <a:off x="3584448"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Enter quantities</a:t>
            </a:r>
            <a:endParaRPr lang="en-US" sz="1500" dirty="0"/>
          </a:p>
          <a:p>
            <a:pPr indent="0" marL="0">
              <a:spcAft>
                <a:spcPts val="400"/>
              </a:spcAft>
              <a:buNone/>
            </a:pPr>
            <a:r>
              <a:rPr lang="en-US" sz="1400" dirty="0">
                <a:solidFill>
                  <a:schemeClr val="bg2"/>
                </a:solidFill>
              </a:rPr>
              <a:t>Type a quantity next to each item you need. Leave the rest empty.</a:t>
            </a:r>
            <a:endParaRPr lang="en-US" sz="1500" dirty="0"/>
          </a:p>
        </p:txBody>
      </p:sp>
      <p:sp>
        <p:nvSpPr>
          <p:cNvPr id="12" name="Step card 3"/>
          <p:cNvSpPr/>
          <p:nvPr/>
        </p:nvSpPr>
        <p:spPr>
          <a:xfrm>
            <a:off x="6163056" y="1417320"/>
            <a:ext cx="2587752" cy="2240280"/>
          </a:xfrm>
          <a:prstGeom prst="roundRect">
            <a:avLst>
              <a:gd name="adj" fmla="val 4898"/>
            </a:avLst>
          </a:prstGeom>
          <a:solidFill>
            <a:schemeClr val="accent6">
              <a:alpha val="88000"/>
            </a:schemeClr>
          </a:solidFill>
          <a:ln w="12700">
            <a:solidFill>
              <a:schemeClr val="accent5"/>
            </a:solidFill>
            <a:prstDash val="solid"/>
          </a:ln>
        </p:spPr>
      </p:sp>
      <p:sp>
        <p:nvSpPr>
          <p:cNvPr id="13" name="Text 10"/>
          <p:cNvSpPr txBox="1"/>
          <p:nvPr/>
        </p:nvSpPr>
        <p:spPr>
          <a:xfrm>
            <a:off x="6391656"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3</a:t>
            </a:r>
            <a:endParaRPr lang="en-US" sz="4000" dirty="0"/>
          </a:p>
        </p:txBody>
      </p:sp>
      <p:sp>
        <p:nvSpPr>
          <p:cNvPr id="14" name="Text 11"/>
          <p:cNvSpPr txBox="1"/>
          <p:nvPr/>
        </p:nvSpPr>
        <p:spPr>
          <a:xfrm>
            <a:off x="6391656"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Save Order</a:t>
            </a:r>
            <a:endParaRPr lang="en-US" sz="1500" dirty="0"/>
          </a:p>
          <a:p>
            <a:pPr indent="0" marL="0">
              <a:spcAft>
                <a:spcPts val="400"/>
              </a:spcAft>
              <a:buNone/>
            </a:pPr>
            <a:r>
              <a:rPr lang="en-US" sz="1400" dirty="0">
                <a:solidFill>
                  <a:schemeClr val="bg2"/>
                </a:solidFill>
              </a:rPr>
              <a:t>Keeps a draft you can come back to and still change.</a:t>
            </a:r>
            <a:endParaRPr lang="en-US" sz="1500" dirty="0"/>
          </a:p>
        </p:txBody>
      </p:sp>
      <p:sp>
        <p:nvSpPr>
          <p:cNvPr id="15" name="Step card 4"/>
          <p:cNvSpPr/>
          <p:nvPr/>
        </p:nvSpPr>
        <p:spPr>
          <a:xfrm>
            <a:off x="8970264" y="1417320"/>
            <a:ext cx="2587752" cy="2240280"/>
          </a:xfrm>
          <a:prstGeom prst="roundRect">
            <a:avLst>
              <a:gd name="adj" fmla="val 4898"/>
            </a:avLst>
          </a:prstGeom>
          <a:solidFill>
            <a:schemeClr val="accent6">
              <a:alpha val="88000"/>
            </a:schemeClr>
          </a:solidFill>
          <a:ln w="25400">
            <a:solidFill>
              <a:schemeClr val="accent1"/>
            </a:solidFill>
            <a:prstDash val="solid"/>
          </a:ln>
        </p:spPr>
      </p:sp>
      <p:sp>
        <p:nvSpPr>
          <p:cNvPr id="16" name="Text 13"/>
          <p:cNvSpPr txBox="1"/>
          <p:nvPr/>
        </p:nvSpPr>
        <p:spPr>
          <a:xfrm>
            <a:off x="9198864" y="1554480"/>
            <a:ext cx="731520" cy="68580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rPr>
              <a:t>4</a:t>
            </a:r>
            <a:endParaRPr lang="en-US" sz="4000" dirty="0"/>
          </a:p>
        </p:txBody>
      </p:sp>
      <p:sp>
        <p:nvSpPr>
          <p:cNvPr id="17" name="Text 14"/>
          <p:cNvSpPr txBox="1"/>
          <p:nvPr/>
        </p:nvSpPr>
        <p:spPr>
          <a:xfrm>
            <a:off x="9198864" y="2286000"/>
            <a:ext cx="2176272" cy="12801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Submit Order</a:t>
            </a:r>
            <a:endParaRPr lang="en-US" sz="1500" dirty="0"/>
          </a:p>
          <a:p>
            <a:pPr indent="0" marL="0">
              <a:spcAft>
                <a:spcPts val="400"/>
              </a:spcAft>
              <a:buNone/>
            </a:pPr>
            <a:r>
              <a:rPr lang="en-US" sz="1400" dirty="0">
                <a:solidFill>
                  <a:schemeClr val="bg2"/>
                </a:solidFill>
              </a:rPr>
              <a:t>Sends it when final. The order then locks and cannot be changed.</a:t>
            </a:r>
            <a:endParaRPr lang="en-US" sz="1500" dirty="0"/>
          </a:p>
        </p:txBody>
      </p:sp>
      <p:sp>
        <p:nvSpPr>
          <p:cNvPr id="18" name="Cutoff rule card"/>
          <p:cNvSpPr/>
          <p:nvPr/>
        </p:nvSpPr>
        <p:spPr>
          <a:xfrm>
            <a:off x="548640" y="3840480"/>
            <a:ext cx="6035040" cy="1554480"/>
          </a:xfrm>
          <a:prstGeom prst="roundRect">
            <a:avLst>
              <a:gd name="adj" fmla="val 7059"/>
            </a:avLst>
          </a:prstGeom>
          <a:solidFill>
            <a:schemeClr val="accent6">
              <a:alpha val="88000"/>
            </a:schemeClr>
          </a:solidFill>
          <a:ln w="12700">
            <a:solidFill>
              <a:schemeClr val="accent4"/>
            </a:solidFill>
            <a:prstDash val="solid"/>
          </a:ln>
        </p:spPr>
      </p:sp>
      <p:sp>
        <p:nvSpPr>
          <p:cNvPr id="19" name="Cutoff circle"/>
          <p:cNvSpPr/>
          <p:nvPr/>
        </p:nvSpPr>
        <p:spPr>
          <a:xfrm>
            <a:off x="777240" y="4041648"/>
            <a:ext cx="731520" cy="731520"/>
          </a:xfrm>
          <a:prstGeom prst="ellipse">
            <a:avLst/>
          </a:prstGeom>
          <a:solidFill>
            <a:schemeClr val="tx2">
              <a:alpha val="80000"/>
            </a:schemeClr>
          </a:solidFill>
          <a:ln w="19050">
            <a:solidFill>
              <a:schemeClr val="accent4"/>
            </a:solidFill>
            <a:prstDash val="solid"/>
          </a:ln>
        </p:spPr>
      </p:sp>
      <p:pic>
        <p:nvPicPr>
          <p:cNvPr id="20" name="Cutoff icon" descr="preencoded.png">    </p:cNvPr>
          <p:cNvPicPr>
            <a:picLocks noChangeAspect="1"/>
          </p:cNvPicPr>
          <p:nvPr/>
        </p:nvPicPr>
        <p:blipFill>
          <a:blip r:embed="rId4"/>
          <a:stretch>
            <a:fillRect/>
          </a:stretch>
        </p:blipFill>
        <p:spPr>
          <a:xfrm>
            <a:off x="952805" y="4217213"/>
            <a:ext cx="380390" cy="380390"/>
          </a:xfrm>
          <a:prstGeom prst="rect">
            <a:avLst/>
          </a:prstGeom>
        </p:spPr>
      </p:pic>
      <p:sp>
        <p:nvSpPr>
          <p:cNvPr id="21" name="Text 17"/>
          <p:cNvSpPr txBox="1"/>
          <p:nvPr/>
        </p:nvSpPr>
        <p:spPr>
          <a:xfrm>
            <a:off x="1737360" y="3977640"/>
            <a:ext cx="4663440" cy="137160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Key rule</a:t>
            </a:r>
            <a:endParaRPr lang="en-US" sz="1500" dirty="0"/>
          </a:p>
          <a:p>
            <a:pPr indent="0" marL="0">
              <a:spcAft>
                <a:spcPts val="400"/>
              </a:spcAft>
              <a:buNone/>
            </a:pPr>
            <a:r>
              <a:rPr lang="en-US" sz="1500" dirty="0">
                <a:solidFill>
                  <a:schemeClr val="bg1"/>
                </a:solidFill>
              </a:rPr>
              <a:t>One order per branch per day, submitted before the cutoff (2:00 PM by default). After it, the form shows "Ordering is closed for today".</a:t>
            </a:r>
            <a:endParaRPr lang="en-US" sz="1500" dirty="0"/>
          </a:p>
        </p:txBody>
      </p:sp>
      <p:sp>
        <p:nvSpPr>
          <p:cNvPr id="22" name="Screenshot placeholder"/>
          <p:cNvSpPr/>
          <p:nvPr/>
        </p:nvSpPr>
        <p:spPr>
          <a:xfrm>
            <a:off x="6812280" y="3840480"/>
            <a:ext cx="4828032" cy="1554480"/>
          </a:xfrm>
          <a:prstGeom prst="roundRect">
            <a:avLst>
              <a:gd name="adj" fmla="val 7059"/>
            </a:avLst>
          </a:prstGeom>
          <a:solidFill>
            <a:schemeClr val="tx2">
              <a:alpha val="65000"/>
            </a:schemeClr>
          </a:solidFill>
          <a:ln w="15875">
            <a:solidFill>
              <a:schemeClr val="accent1"/>
            </a:solidFill>
            <a:prstDash val="dash"/>
          </a:ln>
        </p:spPr>
      </p:sp>
      <p:pic>
        <p:nvPicPr>
          <p:cNvPr id="23" name="Screenshot icon" descr="preencoded.png">    </p:cNvPr>
          <p:cNvPicPr>
            <a:picLocks noChangeAspect="1"/>
          </p:cNvPicPr>
          <p:nvPr/>
        </p:nvPicPr>
        <p:blipFill>
          <a:blip r:embed="rId5"/>
          <a:stretch>
            <a:fillRect/>
          </a:stretch>
        </p:blipFill>
        <p:spPr>
          <a:xfrm>
            <a:off x="8951976" y="3977640"/>
            <a:ext cx="548640" cy="548640"/>
          </a:xfrm>
          <a:prstGeom prst="rect">
            <a:avLst/>
          </a:prstGeom>
        </p:spPr>
      </p:pic>
      <p:sp>
        <p:nvSpPr>
          <p:cNvPr id="24" name="Screenshot label"/>
          <p:cNvSpPr txBox="1"/>
          <p:nvPr/>
        </p:nvSpPr>
        <p:spPr>
          <a:xfrm>
            <a:off x="7086600" y="4663440"/>
            <a:ext cx="42793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Order form with Save Order / Submit Order</a:t>
            </a:r>
            <a:endParaRPr lang="en-US" sz="1300" dirty="0"/>
          </a:p>
        </p:txBody>
      </p:sp>
      <p:sp>
        <p:nvSpPr>
          <p:cNvPr id="25"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6" name="Benefit icon" descr="preencoded.png">    </p:cNvPr>
          <p:cNvPicPr>
            <a:picLocks noChangeAspect="1"/>
          </p:cNvPicPr>
          <p:nvPr/>
        </p:nvPicPr>
        <p:blipFill>
          <a:blip r:embed="rId6"/>
          <a:stretch>
            <a:fillRect/>
          </a:stretch>
        </p:blipFill>
        <p:spPr>
          <a:xfrm>
            <a:off x="749808" y="5733288"/>
            <a:ext cx="292608" cy="292608"/>
          </a:xfrm>
          <a:prstGeom prst="rect">
            <a:avLst/>
          </a:prstGeom>
        </p:spPr>
      </p:pic>
      <p:sp>
        <p:nvSpPr>
          <p:cNvPr id="27" name="Text 21"/>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Quick to fill in, save and finish later, and clear confirmation when it's sent.</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Missed the cutoff? Automatic orders</a:t>
            </a:r>
            <a:endParaRPr lang="en-US" sz="3400" dirty="0"/>
          </a:p>
        </p:txBody>
      </p:sp>
      <p:sp>
        <p:nvSpPr>
          <p:cNvPr id="6" name="Text 3"/>
          <p:cNvSpPr txBox="1"/>
          <p:nvPr/>
        </p:nvSpPr>
        <p:spPr>
          <a:xfrm>
            <a:off x="548640" y="1234440"/>
            <a:ext cx="11094415" cy="41148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If nothing is submitted by the cutoff, the system places an order for you:</a:t>
            </a:r>
            <a:endParaRPr lang="en-US" sz="1600" dirty="0"/>
          </a:p>
        </p:txBody>
      </p:sp>
      <p:sp>
        <p:nvSpPr>
          <p:cNvPr id="7" name="Auto step 1"/>
          <p:cNvSpPr/>
          <p:nvPr/>
        </p:nvSpPr>
        <p:spPr>
          <a:xfrm>
            <a:off x="5486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8" name="Auto step 1 circle"/>
          <p:cNvSpPr/>
          <p:nvPr/>
        </p:nvSpPr>
        <p:spPr>
          <a:xfrm>
            <a:off x="777240" y="2011680"/>
            <a:ext cx="685800" cy="685800"/>
          </a:xfrm>
          <a:prstGeom prst="ellipse">
            <a:avLst/>
          </a:prstGeom>
          <a:solidFill>
            <a:schemeClr val="tx2">
              <a:alpha val="80000"/>
            </a:schemeClr>
          </a:solidFill>
          <a:ln w="19050">
            <a:solidFill>
              <a:schemeClr val="accent1"/>
            </a:solidFill>
            <a:prstDash val="solid"/>
          </a:ln>
        </p:spPr>
      </p:sp>
      <p:pic>
        <p:nvPicPr>
          <p:cNvPr id="9" name="Auto step 1 icon" descr="preencoded.png">    </p:cNvPr>
          <p:cNvPicPr>
            <a:picLocks noChangeAspect="1"/>
          </p:cNvPicPr>
          <p:nvPr/>
        </p:nvPicPr>
        <p:blipFill>
          <a:blip r:embed="rId4"/>
          <a:stretch>
            <a:fillRect/>
          </a:stretch>
        </p:blipFill>
        <p:spPr>
          <a:xfrm>
            <a:off x="941832" y="2176272"/>
            <a:ext cx="356616" cy="356616"/>
          </a:xfrm>
          <a:prstGeom prst="rect">
            <a:avLst/>
          </a:prstGeom>
        </p:spPr>
      </p:pic>
      <p:sp>
        <p:nvSpPr>
          <p:cNvPr id="10" name="Text 6"/>
          <p:cNvSpPr txBox="1"/>
          <p:nvPr/>
        </p:nvSpPr>
        <p:spPr>
          <a:xfrm>
            <a:off x="16002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Saved a draft?</a:t>
            </a:r>
            <a:endParaRPr lang="en-US" sz="1800" dirty="0"/>
          </a:p>
        </p:txBody>
      </p:sp>
      <p:sp>
        <p:nvSpPr>
          <p:cNvPr id="11" name="Text 7"/>
          <p:cNvSpPr txBox="1"/>
          <p:nvPr/>
        </p:nvSpPr>
        <p:spPr>
          <a:xfrm>
            <a:off x="7772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Your draft is submitted.</a:t>
            </a:r>
            <a:endParaRPr lang="en-US" sz="1500" dirty="0"/>
          </a:p>
        </p:txBody>
      </p:sp>
      <p:sp>
        <p:nvSpPr>
          <p:cNvPr id="12" name="Arrow 1"/>
          <p:cNvSpPr/>
          <p:nvPr/>
        </p:nvSpPr>
        <p:spPr>
          <a:xfrm>
            <a:off x="3959352" y="2880360"/>
            <a:ext cx="402336" cy="0"/>
          </a:xfrm>
          <a:prstGeom prst="line">
            <a:avLst/>
          </a:prstGeom>
          <a:noFill/>
          <a:ln w="25400">
            <a:solidFill>
              <a:schemeClr val="accent1"/>
            </a:solidFill>
            <a:prstDash val="solid"/>
            <a:tailEnd type="triangle"/>
          </a:ln>
        </p:spPr>
      </p:sp>
      <p:sp>
        <p:nvSpPr>
          <p:cNvPr id="13" name="Auto step 2"/>
          <p:cNvSpPr/>
          <p:nvPr/>
        </p:nvSpPr>
        <p:spPr>
          <a:xfrm>
            <a:off x="44348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14" name="Auto step 2 circle"/>
          <p:cNvSpPr/>
          <p:nvPr/>
        </p:nvSpPr>
        <p:spPr>
          <a:xfrm>
            <a:off x="4663440" y="2011680"/>
            <a:ext cx="685800" cy="685800"/>
          </a:xfrm>
          <a:prstGeom prst="ellipse">
            <a:avLst/>
          </a:prstGeom>
          <a:solidFill>
            <a:schemeClr val="tx2">
              <a:alpha val="80000"/>
            </a:schemeClr>
          </a:solidFill>
          <a:ln w="19050">
            <a:solidFill>
              <a:schemeClr val="accent1"/>
            </a:solidFill>
            <a:prstDash val="solid"/>
          </a:ln>
        </p:spPr>
      </p:sp>
      <p:pic>
        <p:nvPicPr>
          <p:cNvPr id="15" name="Auto step 2 icon" descr="preencoded.png">    </p:cNvPr>
          <p:cNvPicPr>
            <a:picLocks noChangeAspect="1"/>
          </p:cNvPicPr>
          <p:nvPr/>
        </p:nvPicPr>
        <p:blipFill>
          <a:blip r:embed="rId5"/>
          <a:stretch>
            <a:fillRect/>
          </a:stretch>
        </p:blipFill>
        <p:spPr>
          <a:xfrm>
            <a:off x="4828032" y="2176272"/>
            <a:ext cx="356616" cy="356616"/>
          </a:xfrm>
          <a:prstGeom prst="rect">
            <a:avLst/>
          </a:prstGeom>
        </p:spPr>
      </p:pic>
      <p:sp>
        <p:nvSpPr>
          <p:cNvPr id="16" name="Text 11"/>
          <p:cNvSpPr txBox="1"/>
          <p:nvPr/>
        </p:nvSpPr>
        <p:spPr>
          <a:xfrm>
            <a:off x="54864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No draft?</a:t>
            </a:r>
            <a:endParaRPr lang="en-US" sz="1800" dirty="0"/>
          </a:p>
        </p:txBody>
      </p:sp>
      <p:sp>
        <p:nvSpPr>
          <p:cNvPr id="17" name="Text 12"/>
          <p:cNvSpPr txBox="1"/>
          <p:nvPr/>
        </p:nvSpPr>
        <p:spPr>
          <a:xfrm>
            <a:off x="46634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Copies your order from the same weekday last week. None? It tries 2, 3 … up to 8 weeks back.</a:t>
            </a:r>
            <a:endParaRPr lang="en-US" sz="1500" dirty="0"/>
          </a:p>
        </p:txBody>
      </p:sp>
      <p:sp>
        <p:nvSpPr>
          <p:cNvPr id="18" name="Arrow 2"/>
          <p:cNvSpPr/>
          <p:nvPr/>
        </p:nvSpPr>
        <p:spPr>
          <a:xfrm>
            <a:off x="7845552" y="2880360"/>
            <a:ext cx="402336" cy="0"/>
          </a:xfrm>
          <a:prstGeom prst="line">
            <a:avLst/>
          </a:prstGeom>
          <a:noFill/>
          <a:ln w="25400">
            <a:solidFill>
              <a:schemeClr val="accent1"/>
            </a:solidFill>
            <a:prstDash val="solid"/>
            <a:tailEnd type="triangle"/>
          </a:ln>
        </p:spPr>
      </p:sp>
      <p:sp>
        <p:nvSpPr>
          <p:cNvPr id="19" name="Auto step 3"/>
          <p:cNvSpPr/>
          <p:nvPr/>
        </p:nvSpPr>
        <p:spPr>
          <a:xfrm>
            <a:off x="8321040" y="1783080"/>
            <a:ext cx="3337560" cy="2194560"/>
          </a:xfrm>
          <a:prstGeom prst="roundRect">
            <a:avLst>
              <a:gd name="adj" fmla="val 5000"/>
            </a:avLst>
          </a:prstGeom>
          <a:solidFill>
            <a:schemeClr val="accent6">
              <a:alpha val="88000"/>
            </a:schemeClr>
          </a:solidFill>
          <a:ln w="12700">
            <a:solidFill>
              <a:schemeClr val="accent5"/>
            </a:solidFill>
            <a:prstDash val="solid"/>
          </a:ln>
        </p:spPr>
      </p:sp>
      <p:sp>
        <p:nvSpPr>
          <p:cNvPr id="20" name="Auto step 3 circle"/>
          <p:cNvSpPr/>
          <p:nvPr/>
        </p:nvSpPr>
        <p:spPr>
          <a:xfrm>
            <a:off x="8549640" y="2011680"/>
            <a:ext cx="685800" cy="685800"/>
          </a:xfrm>
          <a:prstGeom prst="ellipse">
            <a:avLst/>
          </a:prstGeom>
          <a:solidFill>
            <a:schemeClr val="tx2">
              <a:alpha val="80000"/>
            </a:schemeClr>
          </a:solidFill>
          <a:ln w="19050">
            <a:solidFill>
              <a:schemeClr val="accent1"/>
            </a:solidFill>
            <a:prstDash val="solid"/>
          </a:ln>
        </p:spPr>
      </p:sp>
      <p:pic>
        <p:nvPicPr>
          <p:cNvPr id="21" name="Auto step 3 icon" descr="preencoded.png">    </p:cNvPr>
          <p:cNvPicPr>
            <a:picLocks noChangeAspect="1"/>
          </p:cNvPicPr>
          <p:nvPr/>
        </p:nvPicPr>
        <p:blipFill>
          <a:blip r:embed="rId6"/>
          <a:stretch>
            <a:fillRect/>
          </a:stretch>
        </p:blipFill>
        <p:spPr>
          <a:xfrm>
            <a:off x="8714232" y="2176272"/>
            <a:ext cx="356616" cy="356616"/>
          </a:xfrm>
          <a:prstGeom prst="rect">
            <a:avLst/>
          </a:prstGeom>
        </p:spPr>
      </p:pic>
      <p:sp>
        <p:nvSpPr>
          <p:cNvPr id="22" name="Text 16"/>
          <p:cNvSpPr txBox="1"/>
          <p:nvPr/>
        </p:nvSpPr>
        <p:spPr>
          <a:xfrm>
            <a:off x="9372600" y="2057400"/>
            <a:ext cx="2148840" cy="59436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Nothing found?</a:t>
            </a:r>
            <a:endParaRPr lang="en-US" sz="1800" dirty="0"/>
          </a:p>
        </p:txBody>
      </p:sp>
      <p:sp>
        <p:nvSpPr>
          <p:cNvPr id="23" name="Text 17"/>
          <p:cNvSpPr txBox="1"/>
          <p:nvPr/>
        </p:nvSpPr>
        <p:spPr>
          <a:xfrm>
            <a:off x="8549640" y="2834640"/>
            <a:ext cx="2926080" cy="105156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No order is placed, and head office is alerted.</a:t>
            </a:r>
            <a:endParaRPr lang="en-US" sz="1500" dirty="0"/>
          </a:p>
        </p:txBody>
      </p:sp>
      <p:sp>
        <p:nvSpPr>
          <p:cNvPr id="24" name="Label note card"/>
          <p:cNvSpPr/>
          <p:nvPr/>
        </p:nvSpPr>
        <p:spPr>
          <a:xfrm>
            <a:off x="548640" y="4206240"/>
            <a:ext cx="6035040" cy="1188720"/>
          </a:xfrm>
          <a:prstGeom prst="roundRect">
            <a:avLst>
              <a:gd name="adj" fmla="val 9231"/>
            </a:avLst>
          </a:prstGeom>
          <a:solidFill>
            <a:schemeClr val="accent6">
              <a:alpha val="88000"/>
            </a:schemeClr>
          </a:solidFill>
          <a:ln w="12700">
            <a:solidFill>
              <a:schemeClr val="accent5"/>
            </a:solidFill>
            <a:prstDash val="solid"/>
          </a:ln>
        </p:spPr>
      </p:sp>
      <p:sp>
        <p:nvSpPr>
          <p:cNvPr id="25" name="Text 19"/>
          <p:cNvSpPr txBox="1"/>
          <p:nvPr/>
        </p:nvSpPr>
        <p:spPr>
          <a:xfrm>
            <a:off x="822960" y="4206240"/>
            <a:ext cx="5577840" cy="1188720"/>
          </a:xfrm>
          <a:prstGeom prst="rect">
            <a:avLst/>
          </a:prstGeom>
          <a:noFill/>
          <a:ln/>
        </p:spPr>
        <p:txBody>
          <a:bodyPr wrap="square" lIns="0" tIns="0" rIns="0" bIns="0" rtlCol="0" anchor="ctr"/>
          <a:lstStyle/>
          <a:p>
            <a:pPr indent="0" marL="0">
              <a:spcAft>
                <a:spcPts val="400"/>
              </a:spcAft>
              <a:buNone/>
            </a:pPr>
            <a:r>
              <a:rPr lang="en-US" sz="1500" b="1" dirty="0">
                <a:solidFill>
                  <a:schemeClr val="accent1"/>
                </a:solidFill>
              </a:rPr>
              <a:t>How to spot one: </a:t>
            </a:r>
            <a:pPr indent="0" marL="0">
              <a:spcAft>
                <a:spcPts val="400"/>
              </a:spcAft>
              <a:buNone/>
            </a:pPr>
            <a:r>
              <a:rPr lang="en-US" sz="1500" dirty="0">
                <a:solidFill>
                  <a:schemeClr val="bg1"/>
                </a:solidFill>
              </a:rPr>
              <a:t>auto-placed orders are labelled "Submitted automatically" and say where they came from.</a:t>
            </a:r>
            <a:endParaRPr lang="en-US" sz="1500" dirty="0"/>
          </a:p>
        </p:txBody>
      </p:sp>
      <p:sp>
        <p:nvSpPr>
          <p:cNvPr id="26" name="Screenshot placeholder"/>
          <p:cNvSpPr/>
          <p:nvPr/>
        </p:nvSpPr>
        <p:spPr>
          <a:xfrm>
            <a:off x="6812280" y="4206240"/>
            <a:ext cx="4828032" cy="1188720"/>
          </a:xfrm>
          <a:prstGeom prst="roundRect">
            <a:avLst>
              <a:gd name="adj" fmla="val 9231"/>
            </a:avLst>
          </a:prstGeom>
          <a:solidFill>
            <a:schemeClr val="tx2">
              <a:alpha val="65000"/>
            </a:schemeClr>
          </a:solidFill>
          <a:ln w="15875">
            <a:solidFill>
              <a:schemeClr val="accent1"/>
            </a:solidFill>
            <a:prstDash val="dash"/>
          </a:ln>
        </p:spPr>
      </p:sp>
      <p:pic>
        <p:nvPicPr>
          <p:cNvPr id="27" name="Screenshot icon" descr="preencoded.png">    </p:cNvPr>
          <p:cNvPicPr>
            <a:picLocks noChangeAspect="1"/>
          </p:cNvPicPr>
          <p:nvPr/>
        </p:nvPicPr>
        <p:blipFill>
          <a:blip r:embed="rId7"/>
          <a:stretch>
            <a:fillRect/>
          </a:stretch>
        </p:blipFill>
        <p:spPr>
          <a:xfrm>
            <a:off x="8951976" y="4160520"/>
            <a:ext cx="548640" cy="548640"/>
          </a:xfrm>
          <a:prstGeom prst="rect">
            <a:avLst/>
          </a:prstGeom>
        </p:spPr>
      </p:pic>
      <p:sp>
        <p:nvSpPr>
          <p:cNvPr id="28" name="Screenshot label"/>
          <p:cNvSpPr txBox="1"/>
          <p:nvPr/>
        </p:nvSpPr>
        <p:spPr>
          <a:xfrm>
            <a:off x="7086600" y="4846320"/>
            <a:ext cx="42793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"Your order was submitted automatically" message</a:t>
            </a:r>
            <a:endParaRPr lang="en-US" sz="1300" dirty="0"/>
          </a:p>
        </p:txBody>
      </p:sp>
      <p:sp>
        <p:nvSpPr>
          <p:cNvPr id="29"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30" name="Benefit icon" descr="preencoded.png">    </p:cNvPr>
          <p:cNvPicPr>
            <a:picLocks noChangeAspect="1"/>
          </p:cNvPicPr>
          <p:nvPr/>
        </p:nvPicPr>
        <p:blipFill>
          <a:blip r:embed="rId8"/>
          <a:stretch>
            <a:fillRect/>
          </a:stretch>
        </p:blipFill>
        <p:spPr>
          <a:xfrm>
            <a:off x="749808" y="5733288"/>
            <a:ext cx="292608" cy="292608"/>
          </a:xfrm>
          <a:prstGeom prst="rect">
            <a:avLst/>
          </a:prstGeom>
        </p:spPr>
      </p:pic>
      <p:sp>
        <p:nvSpPr>
          <p:cNvPr id="31" name="Text 23"/>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Shelves are never left empty on a busy day. Still, order on time: a copy may not fit this week.</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Tracking your orders (My Orders)</a:t>
            </a:r>
            <a:endParaRPr lang="en-US" sz="3400" dirty="0"/>
          </a:p>
        </p:txBody>
      </p:sp>
      <p:sp>
        <p:nvSpPr>
          <p:cNvPr id="6" name="Status SUBMITTED"/>
          <p:cNvSpPr/>
          <p:nvPr/>
        </p:nvSpPr>
        <p:spPr>
          <a:xfrm>
            <a:off x="548640" y="1417320"/>
            <a:ext cx="3337560" cy="685800"/>
          </a:xfrm>
          <a:prstGeom prst="roundRect">
            <a:avLst>
              <a:gd name="adj" fmla="val 49333"/>
            </a:avLst>
          </a:prstGeom>
          <a:solidFill>
            <a:schemeClr val="accent6"/>
          </a:solidFill>
          <a:ln w="25400">
            <a:solidFill>
              <a:schemeClr val="accent4"/>
            </a:solidFill>
            <a:prstDash val="solid"/>
          </a:ln>
        </p:spPr>
      </p:sp>
      <p:sp>
        <p:nvSpPr>
          <p:cNvPr id="7" name="Text 4"/>
          <p:cNvSpPr txBox="1"/>
          <p:nvPr/>
        </p:nvSpPr>
        <p:spPr>
          <a:xfrm>
            <a:off x="548640" y="1417320"/>
            <a:ext cx="3337560" cy="685800"/>
          </a:xfrm>
          <a:prstGeom prst="rect">
            <a:avLst/>
          </a:prstGeom>
          <a:noFill/>
          <a:ln/>
        </p:spPr>
        <p:txBody>
          <a:bodyPr wrap="square" lIns="0" tIns="0" rIns="0" bIns="0" rtlCol="0" anchor="ctr"/>
          <a:lstStyle/>
          <a:p>
            <a:pPr algn="ctr" indent="0" marL="0">
              <a:spcAft>
                <a:spcPts val="400"/>
              </a:spcAft>
              <a:buNone/>
            </a:pPr>
            <a:r>
              <a:rPr lang="en-US" sz="2000" b="1" spc="100" kern="0" dirty="0">
                <a:solidFill>
                  <a:schemeClr val="accent4"/>
                </a:solidFill>
              </a:rPr>
              <a:t>SUBMITTED</a:t>
            </a:r>
            <a:endParaRPr lang="en-US" sz="2000" dirty="0"/>
          </a:p>
        </p:txBody>
      </p:sp>
      <p:sp>
        <p:nvSpPr>
          <p:cNvPr id="8" name="Text 5"/>
          <p:cNvSpPr txBox="1"/>
          <p:nvPr/>
        </p:nvSpPr>
        <p:spPr>
          <a:xfrm>
            <a:off x="640080" y="2240280"/>
            <a:ext cx="3154680" cy="68580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Head office has received it.</a:t>
            </a:r>
            <a:endParaRPr lang="en-US" sz="1500" dirty="0"/>
          </a:p>
        </p:txBody>
      </p:sp>
      <p:sp>
        <p:nvSpPr>
          <p:cNvPr id="9" name="Status arrow 1"/>
          <p:cNvSpPr/>
          <p:nvPr/>
        </p:nvSpPr>
        <p:spPr>
          <a:xfrm>
            <a:off x="3959352" y="1760220"/>
            <a:ext cx="402336" cy="0"/>
          </a:xfrm>
          <a:prstGeom prst="line">
            <a:avLst/>
          </a:prstGeom>
          <a:noFill/>
          <a:ln w="25400">
            <a:solidFill>
              <a:schemeClr val="bg2"/>
            </a:solidFill>
            <a:prstDash val="solid"/>
            <a:tailEnd type="triangle"/>
          </a:ln>
        </p:spPr>
      </p:sp>
      <p:sp>
        <p:nvSpPr>
          <p:cNvPr id="10" name="Status ASSIGNED"/>
          <p:cNvSpPr/>
          <p:nvPr/>
        </p:nvSpPr>
        <p:spPr>
          <a:xfrm>
            <a:off x="4434840" y="1417320"/>
            <a:ext cx="3337560" cy="685800"/>
          </a:xfrm>
          <a:prstGeom prst="roundRect">
            <a:avLst>
              <a:gd name="adj" fmla="val 49333"/>
            </a:avLst>
          </a:prstGeom>
          <a:solidFill>
            <a:schemeClr val="accent6"/>
          </a:solidFill>
          <a:ln w="25400">
            <a:solidFill>
              <a:schemeClr val="accent1"/>
            </a:solidFill>
            <a:prstDash val="solid"/>
          </a:ln>
        </p:spPr>
      </p:sp>
      <p:sp>
        <p:nvSpPr>
          <p:cNvPr id="11" name="Text 8"/>
          <p:cNvSpPr txBox="1"/>
          <p:nvPr/>
        </p:nvSpPr>
        <p:spPr>
          <a:xfrm>
            <a:off x="4434840" y="1417320"/>
            <a:ext cx="3337560" cy="685800"/>
          </a:xfrm>
          <a:prstGeom prst="rect">
            <a:avLst/>
          </a:prstGeom>
          <a:noFill/>
          <a:ln/>
        </p:spPr>
        <p:txBody>
          <a:bodyPr wrap="square" lIns="0" tIns="0" rIns="0" bIns="0" rtlCol="0" anchor="ctr"/>
          <a:lstStyle/>
          <a:p>
            <a:pPr algn="ctr" indent="0" marL="0">
              <a:spcAft>
                <a:spcPts val="400"/>
              </a:spcAft>
              <a:buNone/>
            </a:pPr>
            <a:r>
              <a:rPr lang="en-US" sz="2000" b="1" spc="100" kern="0" dirty="0">
                <a:solidFill>
                  <a:schemeClr val="accent1"/>
                </a:solidFill>
              </a:rPr>
              <a:t>ASSIGNED</a:t>
            </a:r>
            <a:endParaRPr lang="en-US" sz="2000" dirty="0"/>
          </a:p>
        </p:txBody>
      </p:sp>
      <p:sp>
        <p:nvSpPr>
          <p:cNvPr id="12" name="Text 9"/>
          <p:cNvSpPr txBox="1"/>
          <p:nvPr/>
        </p:nvSpPr>
        <p:spPr>
          <a:xfrm>
            <a:off x="4526280" y="2240280"/>
            <a:ext cx="3154680" cy="68580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Suppliers arranged for every item. It's on its way.</a:t>
            </a:r>
            <a:endParaRPr lang="en-US" sz="1500" dirty="0"/>
          </a:p>
        </p:txBody>
      </p:sp>
      <p:sp>
        <p:nvSpPr>
          <p:cNvPr id="13" name="Status arrow 2"/>
          <p:cNvSpPr/>
          <p:nvPr/>
        </p:nvSpPr>
        <p:spPr>
          <a:xfrm>
            <a:off x="7845552" y="1760220"/>
            <a:ext cx="402336" cy="0"/>
          </a:xfrm>
          <a:prstGeom prst="line">
            <a:avLst/>
          </a:prstGeom>
          <a:noFill/>
          <a:ln w="25400">
            <a:solidFill>
              <a:schemeClr val="bg2"/>
            </a:solidFill>
            <a:prstDash val="solid"/>
            <a:tailEnd type="triangle"/>
          </a:ln>
        </p:spPr>
      </p:sp>
      <p:sp>
        <p:nvSpPr>
          <p:cNvPr id="14" name="Status CONFIRMED"/>
          <p:cNvSpPr/>
          <p:nvPr/>
        </p:nvSpPr>
        <p:spPr>
          <a:xfrm>
            <a:off x="8321040" y="1417320"/>
            <a:ext cx="3337560" cy="685800"/>
          </a:xfrm>
          <a:prstGeom prst="roundRect">
            <a:avLst>
              <a:gd name="adj" fmla="val 49333"/>
            </a:avLst>
          </a:prstGeom>
          <a:solidFill>
            <a:schemeClr val="accent6"/>
          </a:solidFill>
          <a:ln w="25400">
            <a:solidFill>
              <a:schemeClr val="accent2"/>
            </a:solidFill>
            <a:prstDash val="solid"/>
          </a:ln>
        </p:spPr>
      </p:sp>
      <p:sp>
        <p:nvSpPr>
          <p:cNvPr id="15" name="Text 12"/>
          <p:cNvSpPr txBox="1"/>
          <p:nvPr/>
        </p:nvSpPr>
        <p:spPr>
          <a:xfrm>
            <a:off x="8321040" y="1417320"/>
            <a:ext cx="3337560" cy="685800"/>
          </a:xfrm>
          <a:prstGeom prst="rect">
            <a:avLst/>
          </a:prstGeom>
          <a:noFill/>
          <a:ln/>
        </p:spPr>
        <p:txBody>
          <a:bodyPr wrap="square" lIns="0" tIns="0" rIns="0" bIns="0" rtlCol="0" anchor="ctr"/>
          <a:lstStyle/>
          <a:p>
            <a:pPr algn="ctr" indent="0" marL="0">
              <a:spcAft>
                <a:spcPts val="400"/>
              </a:spcAft>
              <a:buNone/>
            </a:pPr>
            <a:r>
              <a:rPr lang="en-US" sz="2000" b="1" spc="100" kern="0" dirty="0">
                <a:solidFill>
                  <a:schemeClr val="accent2"/>
                </a:solidFill>
              </a:rPr>
              <a:t>CONFIRMED</a:t>
            </a:r>
            <a:endParaRPr lang="en-US" sz="2000" dirty="0"/>
          </a:p>
        </p:txBody>
      </p:sp>
      <p:sp>
        <p:nvSpPr>
          <p:cNvPr id="16" name="Text 13"/>
          <p:cNvSpPr txBox="1"/>
          <p:nvPr/>
        </p:nvSpPr>
        <p:spPr>
          <a:xfrm>
            <a:off x="8412480" y="2240280"/>
            <a:ext cx="3154680" cy="68580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You have recorded what was delivered.</a:t>
            </a:r>
            <a:endParaRPr lang="en-US" sz="1500" dirty="0"/>
          </a:p>
        </p:txBody>
      </p:sp>
      <p:sp>
        <p:nvSpPr>
          <p:cNvPr id="17" name="Tracking notes card"/>
          <p:cNvSpPr/>
          <p:nvPr/>
        </p:nvSpPr>
        <p:spPr>
          <a:xfrm>
            <a:off x="548640" y="3154680"/>
            <a:ext cx="6035040" cy="2240280"/>
          </a:xfrm>
          <a:prstGeom prst="roundRect">
            <a:avLst>
              <a:gd name="adj" fmla="val 4898"/>
            </a:avLst>
          </a:prstGeom>
          <a:solidFill>
            <a:schemeClr val="accent6">
              <a:alpha val="88000"/>
            </a:schemeClr>
          </a:solidFill>
          <a:ln w="12700">
            <a:solidFill>
              <a:schemeClr val="accent5"/>
            </a:solidFill>
            <a:prstDash val="solid"/>
          </a:ln>
        </p:spPr>
      </p:sp>
      <p:sp>
        <p:nvSpPr>
          <p:cNvPr id="18" name="Text 15"/>
          <p:cNvSpPr txBox="1"/>
          <p:nvPr/>
        </p:nvSpPr>
        <p:spPr>
          <a:xfrm>
            <a:off x="822960" y="3383280"/>
            <a:ext cx="5486400" cy="19202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Every order is listed by delivery date, with its item count and a coloured status.</a:t>
            </a:r>
            <a:endParaRPr lang="en-US" sz="1500" dirty="0"/>
          </a:p>
          <a:p>
            <a:pPr marL="228600" indent="-228600">
              <a:spcAft>
                <a:spcPts val="800"/>
              </a:spcAft>
              <a:buSzPct val="100000"/>
              <a:buChar char="•"/>
            </a:pPr>
            <a:r>
              <a:rPr lang="en-US" sz="1500" dirty="0">
                <a:solidFill>
                  <a:schemeClr val="bg1"/>
                </a:solidFill>
              </a:rPr>
              <a:t>Click an order to see each product and quantity.</a:t>
            </a:r>
            <a:endParaRPr lang="en-US" sz="1500" dirty="0"/>
          </a:p>
          <a:p>
            <a:pPr marL="228600" indent="-228600">
              <a:spcAft>
                <a:spcPts val="800"/>
              </a:spcAft>
              <a:buSzPct val="100000"/>
              <a:buChar char="•"/>
            </a:pPr>
            <a:r>
              <a:rPr lang="en-US" sz="1500" dirty="0">
                <a:solidFill>
                  <a:schemeClr val="bg1"/>
                </a:solidFill>
              </a:rPr>
              <a:t>Items head office added for you are highlighted as "Ordered by SPAR Fresh Procurement".</a:t>
            </a:r>
            <a:endParaRPr lang="en-US" sz="1500" dirty="0"/>
          </a:p>
        </p:txBody>
      </p:sp>
      <p:sp>
        <p:nvSpPr>
          <p:cNvPr id="19" name="Screenshot placeholder"/>
          <p:cNvSpPr/>
          <p:nvPr/>
        </p:nvSpPr>
        <p:spPr>
          <a:xfrm>
            <a:off x="6812280" y="3154680"/>
            <a:ext cx="4828032" cy="2240280"/>
          </a:xfrm>
          <a:prstGeom prst="roundRect">
            <a:avLst>
              <a:gd name="adj" fmla="val 4898"/>
            </a:avLst>
          </a:prstGeom>
          <a:solidFill>
            <a:schemeClr val="tx2">
              <a:alpha val="65000"/>
            </a:schemeClr>
          </a:solidFill>
          <a:ln w="15875">
            <a:solidFill>
              <a:schemeClr val="accent1"/>
            </a:solidFill>
            <a:prstDash val="dash"/>
          </a:ln>
        </p:spPr>
      </p:sp>
      <p:pic>
        <p:nvPicPr>
          <p:cNvPr id="20" name="Screenshot icon" descr="preencoded.png">    </p:cNvPr>
          <p:cNvPicPr>
            <a:picLocks noChangeAspect="1"/>
          </p:cNvPicPr>
          <p:nvPr/>
        </p:nvPicPr>
        <p:blipFill>
          <a:blip r:embed="rId4"/>
          <a:stretch>
            <a:fillRect/>
          </a:stretch>
        </p:blipFill>
        <p:spPr>
          <a:xfrm>
            <a:off x="8951976" y="3634740"/>
            <a:ext cx="548640" cy="548640"/>
          </a:xfrm>
          <a:prstGeom prst="rect">
            <a:avLst/>
          </a:prstGeom>
        </p:spPr>
      </p:pic>
      <p:sp>
        <p:nvSpPr>
          <p:cNvPr id="21" name="Screenshot label"/>
          <p:cNvSpPr txBox="1"/>
          <p:nvPr/>
        </p:nvSpPr>
        <p:spPr>
          <a:xfrm>
            <a:off x="7086600" y="4320540"/>
            <a:ext cx="42793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My Orders list, one order of each status, one opened</a:t>
            </a:r>
            <a:endParaRPr lang="en-US" sz="1300" dirty="0"/>
          </a:p>
        </p:txBody>
      </p:sp>
      <p:sp>
        <p:nvSpPr>
          <p:cNvPr id="22"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3" name="Benefit icon" descr="preencoded.png">    </p:cNvPr>
          <p:cNvPicPr>
            <a:picLocks noChangeAspect="1"/>
          </p:cNvPicPr>
          <p:nvPr/>
        </p:nvPicPr>
        <p:blipFill>
          <a:blip r:embed="rId5"/>
          <a:stretch>
            <a:fillRect/>
          </a:stretch>
        </p:blipFill>
        <p:spPr>
          <a:xfrm>
            <a:off x="749808" y="5733288"/>
            <a:ext cx="292608" cy="292608"/>
          </a:xfrm>
          <a:prstGeom prst="rect">
            <a:avLst/>
          </a:prstGeom>
        </p:spPr>
      </p:pic>
      <p:sp>
        <p:nvSpPr>
          <p:cNvPr id="24" name="Text 19"/>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You always know where your order stands, without phoning head office.</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Receiving and confirming deliveries</a:t>
            </a:r>
            <a:endParaRPr lang="en-US" sz="3400" dirty="0"/>
          </a:p>
        </p:txBody>
      </p:sp>
      <p:sp>
        <p:nvSpPr>
          <p:cNvPr id="6" name="Step number 1"/>
          <p:cNvSpPr/>
          <p:nvPr/>
        </p:nvSpPr>
        <p:spPr>
          <a:xfrm>
            <a:off x="548640" y="1463040"/>
            <a:ext cx="566928" cy="566928"/>
          </a:xfrm>
          <a:prstGeom prst="ellipse">
            <a:avLst/>
          </a:prstGeom>
          <a:solidFill>
            <a:schemeClr val="accent1">
              <a:alpha val="20000"/>
            </a:schemeClr>
          </a:solidFill>
          <a:ln w="19050">
            <a:solidFill>
              <a:schemeClr val="accent1"/>
            </a:solidFill>
            <a:prstDash val="solid"/>
          </a:ln>
        </p:spPr>
      </p:sp>
      <p:sp>
        <p:nvSpPr>
          <p:cNvPr id="7" name="Text 4"/>
          <p:cNvSpPr txBox="1"/>
          <p:nvPr/>
        </p:nvSpPr>
        <p:spPr>
          <a:xfrm>
            <a:off x="548640" y="1463040"/>
            <a:ext cx="566928" cy="566928"/>
          </a:xfrm>
          <a:prstGeom prst="rect">
            <a:avLst/>
          </a:prstGeom>
          <a:noFill/>
          <a:ln/>
        </p:spPr>
        <p:txBody>
          <a:bodyPr wrap="square" lIns="0" tIns="0" rIns="0" bIns="0" rtlCol="0" anchor="ctr"/>
          <a:lstStyle/>
          <a:p>
            <a:pPr algn="ctr" indent="0" marL="0">
              <a:spcAft>
                <a:spcPts val="400"/>
              </a:spcAft>
              <a:buNone/>
            </a:pPr>
            <a:r>
              <a:rPr lang="en-US" sz="2000" b="1" dirty="0">
                <a:solidFill>
                  <a:schemeClr val="accent1"/>
                </a:solidFill>
              </a:rPr>
              <a:t>1</a:t>
            </a:r>
            <a:endParaRPr lang="en-US" sz="2000" dirty="0"/>
          </a:p>
        </p:txBody>
      </p:sp>
      <p:sp>
        <p:nvSpPr>
          <p:cNvPr id="8" name="Text 5"/>
          <p:cNvSpPr txBox="1"/>
          <p:nvPr/>
        </p:nvSpPr>
        <p:spPr>
          <a:xfrm>
            <a:off x="1325880" y="1417320"/>
            <a:ext cx="5486400" cy="8229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Open the order in My Orders</a:t>
            </a:r>
            <a:endParaRPr lang="en-US" sz="1500" dirty="0"/>
          </a:p>
          <a:p>
            <a:pPr indent="0" marL="0">
              <a:spcAft>
                <a:spcPts val="400"/>
              </a:spcAft>
              <a:buNone/>
            </a:pPr>
            <a:r>
              <a:rPr lang="en-US" sz="1500" dirty="0">
                <a:solidFill>
                  <a:schemeClr val="bg2"/>
                </a:solidFill>
              </a:rPr>
              <a:t>It must show ASSIGNED.</a:t>
            </a:r>
            <a:endParaRPr lang="en-US" sz="1500" dirty="0"/>
          </a:p>
        </p:txBody>
      </p:sp>
      <p:sp>
        <p:nvSpPr>
          <p:cNvPr id="9" name="Step number 2"/>
          <p:cNvSpPr/>
          <p:nvPr/>
        </p:nvSpPr>
        <p:spPr>
          <a:xfrm>
            <a:off x="548640" y="2359152"/>
            <a:ext cx="566928" cy="566928"/>
          </a:xfrm>
          <a:prstGeom prst="ellipse">
            <a:avLst/>
          </a:prstGeom>
          <a:solidFill>
            <a:schemeClr val="accent1">
              <a:alpha val="20000"/>
            </a:schemeClr>
          </a:solidFill>
          <a:ln w="19050">
            <a:solidFill>
              <a:schemeClr val="accent1"/>
            </a:solidFill>
            <a:prstDash val="solid"/>
          </a:ln>
        </p:spPr>
      </p:sp>
      <p:sp>
        <p:nvSpPr>
          <p:cNvPr id="10" name="Text 7"/>
          <p:cNvSpPr txBox="1"/>
          <p:nvPr/>
        </p:nvSpPr>
        <p:spPr>
          <a:xfrm>
            <a:off x="548640" y="2359152"/>
            <a:ext cx="566928" cy="566928"/>
          </a:xfrm>
          <a:prstGeom prst="rect">
            <a:avLst/>
          </a:prstGeom>
          <a:noFill/>
          <a:ln/>
        </p:spPr>
        <p:txBody>
          <a:bodyPr wrap="square" lIns="0" tIns="0" rIns="0" bIns="0" rtlCol="0" anchor="ctr"/>
          <a:lstStyle/>
          <a:p>
            <a:pPr algn="ctr" indent="0" marL="0">
              <a:spcAft>
                <a:spcPts val="400"/>
              </a:spcAft>
              <a:buNone/>
            </a:pPr>
            <a:r>
              <a:rPr lang="en-US" sz="2000" b="1" dirty="0">
                <a:solidFill>
                  <a:schemeClr val="accent1"/>
                </a:solidFill>
              </a:rPr>
              <a:t>2</a:t>
            </a:r>
            <a:endParaRPr lang="en-US" sz="2000" dirty="0"/>
          </a:p>
        </p:txBody>
      </p:sp>
      <p:sp>
        <p:nvSpPr>
          <p:cNvPr id="11" name="Text 8"/>
          <p:cNvSpPr txBox="1"/>
          <p:nvPr/>
        </p:nvSpPr>
        <p:spPr>
          <a:xfrm>
            <a:off x="1325880" y="2313432"/>
            <a:ext cx="5486400" cy="8229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Click Confirm Delivery</a:t>
            </a:r>
            <a:endParaRPr lang="en-US" sz="1500" dirty="0"/>
          </a:p>
          <a:p>
            <a:pPr indent="0" marL="0">
              <a:spcAft>
                <a:spcPts val="400"/>
              </a:spcAft>
              <a:buNone/>
            </a:pPr>
            <a:r>
              <a:rPr lang="en-US" sz="1500" dirty="0">
                <a:solidFill>
                  <a:schemeClr val="bg2"/>
                </a:solidFill>
              </a:rPr>
              <a:t>A form lists every item you ordered.</a:t>
            </a:r>
            <a:endParaRPr lang="en-US" sz="1500" dirty="0"/>
          </a:p>
        </p:txBody>
      </p:sp>
      <p:sp>
        <p:nvSpPr>
          <p:cNvPr id="12" name="Step number 3"/>
          <p:cNvSpPr/>
          <p:nvPr/>
        </p:nvSpPr>
        <p:spPr>
          <a:xfrm>
            <a:off x="548640" y="3255264"/>
            <a:ext cx="566928" cy="566928"/>
          </a:xfrm>
          <a:prstGeom prst="ellipse">
            <a:avLst/>
          </a:prstGeom>
          <a:solidFill>
            <a:schemeClr val="accent1">
              <a:alpha val="20000"/>
            </a:schemeClr>
          </a:solidFill>
          <a:ln w="19050">
            <a:solidFill>
              <a:schemeClr val="accent1"/>
            </a:solidFill>
            <a:prstDash val="solid"/>
          </a:ln>
        </p:spPr>
      </p:sp>
      <p:sp>
        <p:nvSpPr>
          <p:cNvPr id="13" name="Text 10"/>
          <p:cNvSpPr txBox="1"/>
          <p:nvPr/>
        </p:nvSpPr>
        <p:spPr>
          <a:xfrm>
            <a:off x="548640" y="3255264"/>
            <a:ext cx="566928" cy="566928"/>
          </a:xfrm>
          <a:prstGeom prst="rect">
            <a:avLst/>
          </a:prstGeom>
          <a:noFill/>
          <a:ln/>
        </p:spPr>
        <p:txBody>
          <a:bodyPr wrap="square" lIns="0" tIns="0" rIns="0" bIns="0" rtlCol="0" anchor="ctr"/>
          <a:lstStyle/>
          <a:p>
            <a:pPr algn="ctr" indent="0" marL="0">
              <a:spcAft>
                <a:spcPts val="400"/>
              </a:spcAft>
              <a:buNone/>
            </a:pPr>
            <a:r>
              <a:rPr lang="en-US" sz="2000" b="1" dirty="0">
                <a:solidFill>
                  <a:schemeClr val="accent1"/>
                </a:solidFill>
              </a:rPr>
              <a:t>3</a:t>
            </a:r>
            <a:endParaRPr lang="en-US" sz="2000" dirty="0"/>
          </a:p>
        </p:txBody>
      </p:sp>
      <p:sp>
        <p:nvSpPr>
          <p:cNvPr id="14" name="Text 11"/>
          <p:cNvSpPr txBox="1"/>
          <p:nvPr/>
        </p:nvSpPr>
        <p:spPr>
          <a:xfrm>
            <a:off x="1325880" y="3209544"/>
            <a:ext cx="5486400" cy="8229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Enter what actually arrived</a:t>
            </a:r>
            <a:endParaRPr lang="en-US" sz="1500" dirty="0"/>
          </a:p>
          <a:p>
            <a:pPr indent="0" marL="0">
              <a:spcAft>
                <a:spcPts val="400"/>
              </a:spcAft>
              <a:buNone/>
            </a:pPr>
            <a:r>
              <a:rPr lang="en-US" sz="1500" dirty="0">
                <a:solidFill>
                  <a:schemeClr val="bg2"/>
                </a:solidFill>
              </a:rPr>
              <a:t>Add a note if needed, e.g. "damaged" or "wrong variety".</a:t>
            </a:r>
            <a:endParaRPr lang="en-US" sz="1500" dirty="0"/>
          </a:p>
        </p:txBody>
      </p:sp>
      <p:sp>
        <p:nvSpPr>
          <p:cNvPr id="15" name="Step number 4"/>
          <p:cNvSpPr/>
          <p:nvPr/>
        </p:nvSpPr>
        <p:spPr>
          <a:xfrm>
            <a:off x="548640" y="4151376"/>
            <a:ext cx="566928" cy="566928"/>
          </a:xfrm>
          <a:prstGeom prst="ellipse">
            <a:avLst/>
          </a:prstGeom>
          <a:solidFill>
            <a:schemeClr val="accent1">
              <a:alpha val="20000"/>
            </a:schemeClr>
          </a:solidFill>
          <a:ln w="19050">
            <a:solidFill>
              <a:schemeClr val="accent1"/>
            </a:solidFill>
            <a:prstDash val="solid"/>
          </a:ln>
        </p:spPr>
      </p:sp>
      <p:sp>
        <p:nvSpPr>
          <p:cNvPr id="16" name="Text 13"/>
          <p:cNvSpPr txBox="1"/>
          <p:nvPr/>
        </p:nvSpPr>
        <p:spPr>
          <a:xfrm>
            <a:off x="548640" y="4151376"/>
            <a:ext cx="566928" cy="566928"/>
          </a:xfrm>
          <a:prstGeom prst="rect">
            <a:avLst/>
          </a:prstGeom>
          <a:noFill/>
          <a:ln/>
        </p:spPr>
        <p:txBody>
          <a:bodyPr wrap="square" lIns="0" tIns="0" rIns="0" bIns="0" rtlCol="0" anchor="ctr"/>
          <a:lstStyle/>
          <a:p>
            <a:pPr algn="ctr" indent="0" marL="0">
              <a:spcAft>
                <a:spcPts val="400"/>
              </a:spcAft>
              <a:buNone/>
            </a:pPr>
            <a:r>
              <a:rPr lang="en-US" sz="2000" b="1" dirty="0">
                <a:solidFill>
                  <a:schemeClr val="accent1"/>
                </a:solidFill>
              </a:rPr>
              <a:t>4</a:t>
            </a:r>
            <a:endParaRPr lang="en-US" sz="2000" dirty="0"/>
          </a:p>
        </p:txBody>
      </p:sp>
      <p:sp>
        <p:nvSpPr>
          <p:cNvPr id="17" name="Text 14"/>
          <p:cNvSpPr txBox="1"/>
          <p:nvPr/>
        </p:nvSpPr>
        <p:spPr>
          <a:xfrm>
            <a:off x="1325880" y="4105656"/>
            <a:ext cx="5486400" cy="82296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Click Confirm Delivery again</a:t>
            </a:r>
            <a:endParaRPr lang="en-US" sz="1500" dirty="0"/>
          </a:p>
          <a:p>
            <a:pPr indent="0" marL="0">
              <a:spcAft>
                <a:spcPts val="400"/>
              </a:spcAft>
              <a:buNone/>
            </a:pPr>
            <a:r>
              <a:rPr lang="en-US" sz="1500" dirty="0">
                <a:solidFill>
                  <a:schemeClr val="bg2"/>
                </a:solidFill>
              </a:rPr>
              <a:t>The order becomes CONFIRMED.</a:t>
            </a:r>
            <a:endParaRPr lang="en-US" sz="1500" dirty="0"/>
          </a:p>
        </p:txBody>
      </p:sp>
      <p:sp>
        <p:nvSpPr>
          <p:cNvPr id="18" name="Mismatch note"/>
          <p:cNvSpPr/>
          <p:nvPr/>
        </p:nvSpPr>
        <p:spPr>
          <a:xfrm>
            <a:off x="548640" y="5029200"/>
            <a:ext cx="6035040" cy="411480"/>
          </a:xfrm>
          <a:prstGeom prst="roundRect">
            <a:avLst>
              <a:gd name="adj" fmla="val 26667"/>
            </a:avLst>
          </a:prstGeom>
          <a:solidFill>
            <a:schemeClr val="accent3">
              <a:alpha val="20000"/>
            </a:schemeClr>
          </a:solidFill>
          <a:ln w="12700">
            <a:solidFill>
              <a:schemeClr val="accent3"/>
            </a:solidFill>
            <a:prstDash val="solid"/>
          </a:ln>
        </p:spPr>
      </p:sp>
      <p:sp>
        <p:nvSpPr>
          <p:cNvPr id="19" name="Text 16"/>
          <p:cNvSpPr txBox="1"/>
          <p:nvPr/>
        </p:nvSpPr>
        <p:spPr>
          <a:xfrm>
            <a:off x="777240" y="5029200"/>
            <a:ext cx="5669280" cy="411480"/>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Any quantity that differs from your order is shown in red.</a:t>
            </a:r>
            <a:endParaRPr lang="en-US" sz="1500" dirty="0"/>
          </a:p>
        </p:txBody>
      </p:sp>
      <p:sp>
        <p:nvSpPr>
          <p:cNvPr id="20" name="Screenshot placeholder"/>
          <p:cNvSpPr/>
          <p:nvPr/>
        </p:nvSpPr>
        <p:spPr>
          <a:xfrm>
            <a:off x="7040880" y="1417320"/>
            <a:ext cx="4599432" cy="4023360"/>
          </a:xfrm>
          <a:prstGeom prst="roundRect">
            <a:avLst>
              <a:gd name="adj" fmla="val 2727"/>
            </a:avLst>
          </a:prstGeom>
          <a:solidFill>
            <a:schemeClr val="tx2">
              <a:alpha val="65000"/>
            </a:schemeClr>
          </a:solidFill>
          <a:ln w="15875">
            <a:solidFill>
              <a:schemeClr val="accent1"/>
            </a:solidFill>
            <a:prstDash val="dash"/>
          </a:ln>
        </p:spPr>
      </p:sp>
      <p:pic>
        <p:nvPicPr>
          <p:cNvPr id="21" name="Screenshot icon" descr="preencoded.png">    </p:cNvPr>
          <p:cNvPicPr>
            <a:picLocks noChangeAspect="1"/>
          </p:cNvPicPr>
          <p:nvPr/>
        </p:nvPicPr>
        <p:blipFill>
          <a:blip r:embed="rId4"/>
          <a:stretch>
            <a:fillRect/>
          </a:stretch>
        </p:blipFill>
        <p:spPr>
          <a:xfrm>
            <a:off x="9066276" y="2788920"/>
            <a:ext cx="548640" cy="548640"/>
          </a:xfrm>
          <a:prstGeom prst="rect">
            <a:avLst/>
          </a:prstGeom>
        </p:spPr>
      </p:pic>
      <p:sp>
        <p:nvSpPr>
          <p:cNvPr id="22" name="Screenshot label"/>
          <p:cNvSpPr txBox="1"/>
          <p:nvPr/>
        </p:nvSpPr>
        <p:spPr>
          <a:xfrm>
            <a:off x="7315200" y="3474720"/>
            <a:ext cx="40507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Confirm Delivery form with one short delivery and a note</a:t>
            </a:r>
            <a:endParaRPr lang="en-US" sz="1300" dirty="0"/>
          </a:p>
        </p:txBody>
      </p:sp>
      <p:sp>
        <p:nvSpPr>
          <p:cNvPr id="23"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4" name="Benefit icon" descr="preencoded.png">    </p:cNvPr>
          <p:cNvPicPr>
            <a:picLocks noChangeAspect="1"/>
          </p:cNvPicPr>
          <p:nvPr/>
        </p:nvPicPr>
        <p:blipFill>
          <a:blip r:embed="rId5"/>
          <a:stretch>
            <a:fillRect/>
          </a:stretch>
        </p:blipFill>
        <p:spPr>
          <a:xfrm>
            <a:off x="749808" y="5733288"/>
            <a:ext cx="292608" cy="292608"/>
          </a:xfrm>
          <a:prstGeom prst="rect">
            <a:avLst/>
          </a:prstGeom>
        </p:spPr>
      </p:pic>
      <p:sp>
        <p:nvSpPr>
          <p:cNvPr id="25" name="Text 20"/>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Shortages and wrong deliveries are on record, so head office can follow up with the supplier.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Purchase Orders</a:t>
            </a:r>
            <a:endParaRPr lang="en-US" sz="3400" dirty="0"/>
          </a:p>
        </p:txBody>
      </p:sp>
      <p:sp>
        <p:nvSpPr>
          <p:cNvPr id="6" name="PO explanation card"/>
          <p:cNvSpPr/>
          <p:nvPr/>
        </p:nvSpPr>
        <p:spPr>
          <a:xfrm>
            <a:off x="548640" y="1417320"/>
            <a:ext cx="6035040" cy="2148840"/>
          </a:xfrm>
          <a:prstGeom prst="roundRect">
            <a:avLst>
              <a:gd name="adj" fmla="val 5106"/>
            </a:avLst>
          </a:prstGeom>
          <a:solidFill>
            <a:schemeClr val="accent6">
              <a:alpha val="88000"/>
            </a:schemeClr>
          </a:solidFill>
          <a:ln w="12700">
            <a:solidFill>
              <a:schemeClr val="accent5"/>
            </a:solidFill>
            <a:prstDash val="solid"/>
          </a:ln>
        </p:spPr>
      </p:sp>
      <p:sp>
        <p:nvSpPr>
          <p:cNvPr id="7" name="Purchase order circle"/>
          <p:cNvSpPr/>
          <p:nvPr/>
        </p:nvSpPr>
        <p:spPr>
          <a:xfrm>
            <a:off x="822960" y="1691640"/>
            <a:ext cx="822960" cy="822960"/>
          </a:xfrm>
          <a:prstGeom prst="ellipse">
            <a:avLst/>
          </a:prstGeom>
          <a:solidFill>
            <a:schemeClr val="tx2">
              <a:alpha val="80000"/>
            </a:schemeClr>
          </a:solidFill>
          <a:ln w="19050">
            <a:solidFill>
              <a:schemeClr val="accent1"/>
            </a:solidFill>
            <a:prstDash val="solid"/>
          </a:ln>
        </p:spPr>
      </p:sp>
      <p:pic>
        <p:nvPicPr>
          <p:cNvPr id="8" name="Purchase order icon" descr="preencoded.png">    </p:cNvPr>
          <p:cNvPicPr>
            <a:picLocks noChangeAspect="1"/>
          </p:cNvPicPr>
          <p:nvPr/>
        </p:nvPicPr>
        <p:blipFill>
          <a:blip r:embed="rId4"/>
          <a:stretch>
            <a:fillRect/>
          </a:stretch>
        </p:blipFill>
        <p:spPr>
          <a:xfrm>
            <a:off x="1020470" y="1889150"/>
            <a:ext cx="427939" cy="427939"/>
          </a:xfrm>
          <a:prstGeom prst="rect">
            <a:avLst/>
          </a:prstGeom>
        </p:spPr>
      </p:pic>
      <p:sp>
        <p:nvSpPr>
          <p:cNvPr id="9" name="Text 5"/>
          <p:cNvSpPr txBox="1"/>
          <p:nvPr/>
        </p:nvSpPr>
        <p:spPr>
          <a:xfrm>
            <a:off x="1874520" y="1645920"/>
            <a:ext cx="4480560" cy="173736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When head office issues a purchase order to a supplier for your branch, it appears here, with the supplier, the delivery date and the items.</a:t>
            </a:r>
            <a:endParaRPr lang="en-US" sz="1600" dirty="0"/>
          </a:p>
        </p:txBody>
      </p:sp>
      <p:sp>
        <p:nvSpPr>
          <p:cNvPr id="10" name="PO action Search"/>
          <p:cNvSpPr/>
          <p:nvPr/>
        </p:nvSpPr>
        <p:spPr>
          <a:xfrm>
            <a:off x="548640" y="3794760"/>
            <a:ext cx="1865376" cy="1600200"/>
          </a:xfrm>
          <a:prstGeom prst="roundRect">
            <a:avLst>
              <a:gd name="adj" fmla="val 6857"/>
            </a:avLst>
          </a:prstGeom>
          <a:solidFill>
            <a:schemeClr val="accent6">
              <a:alpha val="88000"/>
            </a:schemeClr>
          </a:solidFill>
          <a:ln w="12700">
            <a:solidFill>
              <a:schemeClr val="accent5"/>
            </a:solidFill>
            <a:prstDash val="solid"/>
          </a:ln>
        </p:spPr>
      </p:sp>
      <p:pic>
        <p:nvPicPr>
          <p:cNvPr id="11" name="PO action icon Search" descr="preencoded.png">    </p:cNvPr>
          <p:cNvPicPr>
            <a:picLocks noChangeAspect="1"/>
          </p:cNvPicPr>
          <p:nvPr/>
        </p:nvPicPr>
        <p:blipFill>
          <a:blip r:embed="rId5"/>
          <a:stretch>
            <a:fillRect/>
          </a:stretch>
        </p:blipFill>
        <p:spPr>
          <a:xfrm>
            <a:off x="1234440" y="4023360"/>
            <a:ext cx="493776" cy="493776"/>
          </a:xfrm>
          <a:prstGeom prst="rect">
            <a:avLst/>
          </a:prstGeom>
        </p:spPr>
      </p:pic>
      <p:sp>
        <p:nvSpPr>
          <p:cNvPr id="12" name="Text 7"/>
          <p:cNvSpPr txBox="1"/>
          <p:nvPr/>
        </p:nvSpPr>
        <p:spPr>
          <a:xfrm>
            <a:off x="640080" y="4617720"/>
            <a:ext cx="1682496"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Search</a:t>
            </a:r>
            <a:endParaRPr lang="en-US" sz="1500" dirty="0"/>
          </a:p>
          <a:p>
            <a:pPr algn="ctr" indent="0" marL="0">
              <a:spcAft>
                <a:spcPts val="400"/>
              </a:spcAft>
              <a:buNone/>
            </a:pPr>
            <a:r>
              <a:rPr lang="en-US" sz="1500" dirty="0">
                <a:solidFill>
                  <a:schemeClr val="bg2"/>
                </a:solidFill>
              </a:rPr>
              <a:t>the list</a:t>
            </a:r>
            <a:endParaRPr lang="en-US" sz="1500" dirty="0"/>
          </a:p>
        </p:txBody>
      </p:sp>
      <p:sp>
        <p:nvSpPr>
          <p:cNvPr id="13" name="PO action Open"/>
          <p:cNvSpPr/>
          <p:nvPr/>
        </p:nvSpPr>
        <p:spPr>
          <a:xfrm>
            <a:off x="2633472" y="3794760"/>
            <a:ext cx="1865376" cy="1600200"/>
          </a:xfrm>
          <a:prstGeom prst="roundRect">
            <a:avLst>
              <a:gd name="adj" fmla="val 6857"/>
            </a:avLst>
          </a:prstGeom>
          <a:solidFill>
            <a:schemeClr val="accent6">
              <a:alpha val="88000"/>
            </a:schemeClr>
          </a:solidFill>
          <a:ln w="12700">
            <a:solidFill>
              <a:schemeClr val="accent5"/>
            </a:solidFill>
            <a:prstDash val="solid"/>
          </a:ln>
        </p:spPr>
      </p:sp>
      <p:pic>
        <p:nvPicPr>
          <p:cNvPr id="14" name="PO action icon Open" descr="preencoded.png">    </p:cNvPr>
          <p:cNvPicPr>
            <a:picLocks noChangeAspect="1"/>
          </p:cNvPicPr>
          <p:nvPr/>
        </p:nvPicPr>
        <p:blipFill>
          <a:blip r:embed="rId6"/>
          <a:stretch>
            <a:fillRect/>
          </a:stretch>
        </p:blipFill>
        <p:spPr>
          <a:xfrm>
            <a:off x="3319272" y="4023360"/>
            <a:ext cx="493776" cy="493776"/>
          </a:xfrm>
          <a:prstGeom prst="rect">
            <a:avLst/>
          </a:prstGeom>
        </p:spPr>
      </p:pic>
      <p:sp>
        <p:nvSpPr>
          <p:cNvPr id="15" name="Text 9"/>
          <p:cNvSpPr txBox="1"/>
          <p:nvPr/>
        </p:nvSpPr>
        <p:spPr>
          <a:xfrm>
            <a:off x="2724912" y="4617720"/>
            <a:ext cx="1682496"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Open</a:t>
            </a:r>
            <a:endParaRPr lang="en-US" sz="1500" dirty="0"/>
          </a:p>
          <a:p>
            <a:pPr algn="ctr" indent="0" marL="0">
              <a:spcAft>
                <a:spcPts val="400"/>
              </a:spcAft>
              <a:buNone/>
            </a:pPr>
            <a:r>
              <a:rPr lang="en-US" sz="1500" dirty="0">
                <a:solidFill>
                  <a:schemeClr val="bg2"/>
                </a:solidFill>
              </a:rPr>
              <a:t>a PO</a:t>
            </a:r>
            <a:endParaRPr lang="en-US" sz="1500" dirty="0"/>
          </a:p>
        </p:txBody>
      </p:sp>
      <p:sp>
        <p:nvSpPr>
          <p:cNvPr id="16" name="PO action Print"/>
          <p:cNvSpPr/>
          <p:nvPr/>
        </p:nvSpPr>
        <p:spPr>
          <a:xfrm>
            <a:off x="4718304" y="3794760"/>
            <a:ext cx="1865376" cy="1600200"/>
          </a:xfrm>
          <a:prstGeom prst="roundRect">
            <a:avLst>
              <a:gd name="adj" fmla="val 6857"/>
            </a:avLst>
          </a:prstGeom>
          <a:solidFill>
            <a:schemeClr val="accent6">
              <a:alpha val="88000"/>
            </a:schemeClr>
          </a:solidFill>
          <a:ln w="12700">
            <a:solidFill>
              <a:schemeClr val="accent5"/>
            </a:solidFill>
            <a:prstDash val="solid"/>
          </a:ln>
        </p:spPr>
      </p:sp>
      <p:pic>
        <p:nvPicPr>
          <p:cNvPr id="17" name="PO action icon Print" descr="preencoded.png">    </p:cNvPr>
          <p:cNvPicPr>
            <a:picLocks noChangeAspect="1"/>
          </p:cNvPicPr>
          <p:nvPr/>
        </p:nvPicPr>
        <p:blipFill>
          <a:blip r:embed="rId7"/>
          <a:stretch>
            <a:fillRect/>
          </a:stretch>
        </p:blipFill>
        <p:spPr>
          <a:xfrm>
            <a:off x="5404104" y="4023360"/>
            <a:ext cx="493776" cy="493776"/>
          </a:xfrm>
          <a:prstGeom prst="rect">
            <a:avLst/>
          </a:prstGeom>
        </p:spPr>
      </p:pic>
      <p:sp>
        <p:nvSpPr>
          <p:cNvPr id="18" name="Text 11"/>
          <p:cNvSpPr txBox="1"/>
          <p:nvPr/>
        </p:nvSpPr>
        <p:spPr>
          <a:xfrm>
            <a:off x="4809744" y="4617720"/>
            <a:ext cx="1682496" cy="685800"/>
          </a:xfrm>
          <a:prstGeom prst="rect">
            <a:avLst/>
          </a:prstGeom>
          <a:noFill/>
          <a:ln/>
        </p:spPr>
        <p:txBody>
          <a:bodyPr wrap="square" lIns="0" tIns="0" rIns="0" bIns="0" rtlCol="0" anchor="t"/>
          <a:lstStyle/>
          <a:p>
            <a:pPr algn="ctr" indent="0" marL="0">
              <a:spcAft>
                <a:spcPts val="400"/>
              </a:spcAft>
              <a:buNone/>
            </a:pPr>
            <a:r>
              <a:rPr lang="en-US" sz="1500" b="1" dirty="0">
                <a:solidFill>
                  <a:schemeClr val="bg1"/>
                </a:solidFill>
              </a:rPr>
              <a:t>Print</a:t>
            </a:r>
            <a:endParaRPr lang="en-US" sz="1500" dirty="0"/>
          </a:p>
          <a:p>
            <a:pPr algn="ctr" indent="0" marL="0">
              <a:spcAft>
                <a:spcPts val="400"/>
              </a:spcAft>
              <a:buNone/>
            </a:pPr>
            <a:r>
              <a:rPr lang="en-US" sz="1500" dirty="0">
                <a:solidFill>
                  <a:schemeClr val="bg2"/>
                </a:solidFill>
              </a:rPr>
              <a:t>or save as PDF</a:t>
            </a:r>
            <a:endParaRPr lang="en-US" sz="1500" dirty="0"/>
          </a:p>
        </p:txBody>
      </p:sp>
      <p:sp>
        <p:nvSpPr>
          <p:cNvPr id="19" name="Screenshot placeholder"/>
          <p:cNvSpPr/>
          <p:nvPr/>
        </p:nvSpPr>
        <p:spPr>
          <a:xfrm>
            <a:off x="6812280" y="1417320"/>
            <a:ext cx="4828032" cy="3977640"/>
          </a:xfrm>
          <a:prstGeom prst="roundRect">
            <a:avLst>
              <a:gd name="adj" fmla="val 2759"/>
            </a:avLst>
          </a:prstGeom>
          <a:solidFill>
            <a:schemeClr val="tx2">
              <a:alpha val="65000"/>
            </a:schemeClr>
          </a:solidFill>
          <a:ln w="15875">
            <a:solidFill>
              <a:schemeClr val="accent1"/>
            </a:solidFill>
            <a:prstDash val="dash"/>
          </a:ln>
        </p:spPr>
      </p:sp>
      <p:pic>
        <p:nvPicPr>
          <p:cNvPr id="20" name="Screenshot icon" descr="preencoded.png">    </p:cNvPr>
          <p:cNvPicPr>
            <a:picLocks noChangeAspect="1"/>
          </p:cNvPicPr>
          <p:nvPr/>
        </p:nvPicPr>
        <p:blipFill>
          <a:blip r:embed="rId8"/>
          <a:stretch>
            <a:fillRect/>
          </a:stretch>
        </p:blipFill>
        <p:spPr>
          <a:xfrm>
            <a:off x="8951976" y="2766060"/>
            <a:ext cx="548640" cy="548640"/>
          </a:xfrm>
          <a:prstGeom prst="rect">
            <a:avLst/>
          </a:prstGeom>
        </p:spPr>
      </p:pic>
      <p:sp>
        <p:nvSpPr>
          <p:cNvPr id="21" name="Screenshot label"/>
          <p:cNvSpPr txBox="1"/>
          <p:nvPr/>
        </p:nvSpPr>
        <p:spPr>
          <a:xfrm>
            <a:off x="7086600" y="3451860"/>
            <a:ext cx="42793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Purchase Orders list and one opened PO</a:t>
            </a:r>
            <a:endParaRPr lang="en-US" sz="1300" dirty="0"/>
          </a:p>
        </p:txBody>
      </p:sp>
      <p:sp>
        <p:nvSpPr>
          <p:cNvPr id="22"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3" name="Benefit icon" descr="preencoded.png">    </p:cNvPr>
          <p:cNvPicPr>
            <a:picLocks noChangeAspect="1"/>
          </p:cNvPicPr>
          <p:nvPr/>
        </p:nvPicPr>
        <p:blipFill>
          <a:blip r:embed="rId9"/>
          <a:stretch>
            <a:fillRect/>
          </a:stretch>
        </p:blipFill>
        <p:spPr>
          <a:xfrm>
            <a:off x="749808" y="5733288"/>
            <a:ext cx="292608" cy="292608"/>
          </a:xfrm>
          <a:prstGeom prst="rect">
            <a:avLst/>
          </a:prstGeom>
        </p:spPr>
      </p:pic>
      <p:sp>
        <p:nvSpPr>
          <p:cNvPr id="24" name="Text 15"/>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You know exactly which supplier is bringing what, so you can check the delivery at the door.</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Safety Stock</a:t>
            </a:r>
            <a:endParaRPr lang="en-US" sz="3400" dirty="0"/>
          </a:p>
        </p:txBody>
      </p:sp>
      <p:sp>
        <p:nvSpPr>
          <p:cNvPr id="6" name="Text 3"/>
          <p:cNvSpPr txBox="1"/>
          <p:nvPr/>
        </p:nvSpPr>
        <p:spPr>
          <a:xfrm>
            <a:off x="548640" y="1417320"/>
            <a:ext cx="6035040" cy="640080"/>
          </a:xfrm>
          <a:prstGeom prst="rect">
            <a:avLst/>
          </a:prstGeom>
          <a:noFill/>
          <a:ln/>
        </p:spPr>
        <p:txBody>
          <a:bodyPr wrap="square" lIns="0" tIns="0" rIns="0" bIns="0" rtlCol="0" anchor="ctr"/>
          <a:lstStyle/>
          <a:p>
            <a:pPr indent="0" marL="0">
              <a:spcAft>
                <a:spcPts val="400"/>
              </a:spcAft>
              <a:buNone/>
            </a:pPr>
            <a:r>
              <a:rPr lang="en-US" sz="2800" b="1" dirty="0">
                <a:solidFill>
                  <a:schemeClr val="accent1"/>
                </a:solidFill>
              </a:rPr>
              <a:t>Set once. Stays until you change it.</a:t>
            </a:r>
            <a:endParaRPr lang="en-US" sz="2800" dirty="0"/>
          </a:p>
        </p:txBody>
      </p:sp>
      <p:sp>
        <p:nvSpPr>
          <p:cNvPr id="7" name="Text 4"/>
          <p:cNvSpPr txBox="1"/>
          <p:nvPr/>
        </p:nvSpPr>
        <p:spPr>
          <a:xfrm>
            <a:off x="548640" y="2148840"/>
            <a:ext cx="6035040" cy="685800"/>
          </a:xfrm>
          <a:prstGeom prst="rect">
            <a:avLst/>
          </a:prstGeom>
          <a:noFill/>
          <a:ln/>
        </p:spPr>
        <p:txBody>
          <a:bodyPr wrap="square" lIns="0" tIns="0" rIns="0" bIns="0" rtlCol="0" anchor="t"/>
          <a:lstStyle/>
          <a:p>
            <a:pPr indent="0" marL="0">
              <a:spcAft>
                <a:spcPts val="400"/>
              </a:spcAft>
              <a:buNone/>
            </a:pPr>
            <a:r>
              <a:rPr lang="en-US" sz="1700" dirty="0">
                <a:solidFill>
                  <a:schemeClr val="bg2"/>
                </a:solidFill>
              </a:rPr>
              <a:t>Enter the minimum quantity of each item your branch should always have.</a:t>
            </a:r>
            <a:endParaRPr lang="en-US" sz="1700" dirty="0"/>
          </a:p>
        </p:txBody>
      </p:sp>
      <p:sp>
        <p:nvSpPr>
          <p:cNvPr id="8" name="Safety action Enter"/>
          <p:cNvSpPr/>
          <p:nvPr/>
        </p:nvSpPr>
        <p:spPr>
          <a:xfrm>
            <a:off x="548640" y="3017520"/>
            <a:ext cx="6035040" cy="658368"/>
          </a:xfrm>
          <a:prstGeom prst="roundRect">
            <a:avLst>
              <a:gd name="adj" fmla="val 16667"/>
            </a:avLst>
          </a:prstGeom>
          <a:solidFill>
            <a:schemeClr val="accent6">
              <a:alpha val="88000"/>
            </a:schemeClr>
          </a:solidFill>
          <a:ln w="12700">
            <a:solidFill>
              <a:schemeClr val="accent5"/>
            </a:solidFill>
            <a:prstDash val="solid"/>
          </a:ln>
        </p:spPr>
      </p:sp>
      <p:pic>
        <p:nvPicPr>
          <p:cNvPr id="9" name="Safety icon Enter" descr="preencoded.png">    </p:cNvPr>
          <p:cNvPicPr>
            <a:picLocks noChangeAspect="1"/>
          </p:cNvPicPr>
          <p:nvPr/>
        </p:nvPicPr>
        <p:blipFill>
          <a:blip r:embed="rId4"/>
          <a:stretch>
            <a:fillRect/>
          </a:stretch>
        </p:blipFill>
        <p:spPr>
          <a:xfrm>
            <a:off x="777240" y="3172968"/>
            <a:ext cx="347472" cy="347472"/>
          </a:xfrm>
          <a:prstGeom prst="rect">
            <a:avLst/>
          </a:prstGeom>
        </p:spPr>
      </p:pic>
      <p:sp>
        <p:nvSpPr>
          <p:cNvPr id="10" name="Text 6"/>
          <p:cNvSpPr txBox="1"/>
          <p:nvPr/>
        </p:nvSpPr>
        <p:spPr>
          <a:xfrm>
            <a:off x="1325880" y="3017520"/>
            <a:ext cx="502920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Enter  </a:t>
            </a:r>
            <a:pPr indent="0" marL="0">
              <a:spcAft>
                <a:spcPts val="400"/>
              </a:spcAft>
              <a:buNone/>
            </a:pPr>
            <a:r>
              <a:rPr lang="en-US" sz="1600" dirty="0">
                <a:solidFill>
                  <a:schemeClr val="bg2"/>
                </a:solidFill>
              </a:rPr>
              <a:t>a minimum per item</a:t>
            </a:r>
            <a:endParaRPr lang="en-US" sz="1600" dirty="0"/>
          </a:p>
        </p:txBody>
      </p:sp>
      <p:sp>
        <p:nvSpPr>
          <p:cNvPr id="11" name="Safety action Save"/>
          <p:cNvSpPr/>
          <p:nvPr/>
        </p:nvSpPr>
        <p:spPr>
          <a:xfrm>
            <a:off x="548640" y="3822192"/>
            <a:ext cx="6035040" cy="658368"/>
          </a:xfrm>
          <a:prstGeom prst="roundRect">
            <a:avLst>
              <a:gd name="adj" fmla="val 16667"/>
            </a:avLst>
          </a:prstGeom>
          <a:solidFill>
            <a:schemeClr val="accent6">
              <a:alpha val="88000"/>
            </a:schemeClr>
          </a:solidFill>
          <a:ln w="12700">
            <a:solidFill>
              <a:schemeClr val="accent5"/>
            </a:solidFill>
            <a:prstDash val="solid"/>
          </a:ln>
        </p:spPr>
      </p:sp>
      <p:pic>
        <p:nvPicPr>
          <p:cNvPr id="12" name="Safety icon Save" descr="preencoded.png">    </p:cNvPr>
          <p:cNvPicPr>
            <a:picLocks noChangeAspect="1"/>
          </p:cNvPicPr>
          <p:nvPr/>
        </p:nvPicPr>
        <p:blipFill>
          <a:blip r:embed="rId5"/>
          <a:stretch>
            <a:fillRect/>
          </a:stretch>
        </p:blipFill>
        <p:spPr>
          <a:xfrm>
            <a:off x="777240" y="3977640"/>
            <a:ext cx="347472" cy="347472"/>
          </a:xfrm>
          <a:prstGeom prst="rect">
            <a:avLst/>
          </a:prstGeom>
        </p:spPr>
      </p:pic>
      <p:sp>
        <p:nvSpPr>
          <p:cNvPr id="13" name="Text 8"/>
          <p:cNvSpPr txBox="1"/>
          <p:nvPr/>
        </p:nvSpPr>
        <p:spPr>
          <a:xfrm>
            <a:off x="1325880" y="3822192"/>
            <a:ext cx="502920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Save  </a:t>
            </a:r>
            <a:pPr indent="0" marL="0">
              <a:spcAft>
                <a:spcPts val="400"/>
              </a:spcAft>
              <a:buNone/>
            </a:pPr>
            <a:r>
              <a:rPr lang="en-US" sz="1600" dirty="0">
                <a:solidFill>
                  <a:schemeClr val="bg2"/>
                </a:solidFill>
              </a:rPr>
              <a:t>levels stay day after day</a:t>
            </a:r>
            <a:endParaRPr lang="en-US" sz="1600" dirty="0"/>
          </a:p>
        </p:txBody>
      </p:sp>
      <p:sp>
        <p:nvSpPr>
          <p:cNvPr id="14" name="Safety action Clear all"/>
          <p:cNvSpPr/>
          <p:nvPr/>
        </p:nvSpPr>
        <p:spPr>
          <a:xfrm>
            <a:off x="548640" y="4626864"/>
            <a:ext cx="6035040" cy="658368"/>
          </a:xfrm>
          <a:prstGeom prst="roundRect">
            <a:avLst>
              <a:gd name="adj" fmla="val 16667"/>
            </a:avLst>
          </a:prstGeom>
          <a:solidFill>
            <a:schemeClr val="accent6">
              <a:alpha val="88000"/>
            </a:schemeClr>
          </a:solidFill>
          <a:ln w="12700">
            <a:solidFill>
              <a:schemeClr val="accent5"/>
            </a:solidFill>
            <a:prstDash val="solid"/>
          </a:ln>
        </p:spPr>
      </p:sp>
      <p:pic>
        <p:nvPicPr>
          <p:cNvPr id="15" name="Safety icon Clear all" descr="preencoded.png">    </p:cNvPr>
          <p:cNvPicPr>
            <a:picLocks noChangeAspect="1"/>
          </p:cNvPicPr>
          <p:nvPr/>
        </p:nvPicPr>
        <p:blipFill>
          <a:blip r:embed="rId6"/>
          <a:stretch>
            <a:fillRect/>
          </a:stretch>
        </p:blipFill>
        <p:spPr>
          <a:xfrm>
            <a:off x="777240" y="4782312"/>
            <a:ext cx="347472" cy="347472"/>
          </a:xfrm>
          <a:prstGeom prst="rect">
            <a:avLst/>
          </a:prstGeom>
        </p:spPr>
      </p:pic>
      <p:sp>
        <p:nvSpPr>
          <p:cNvPr id="16" name="Text 10"/>
          <p:cNvSpPr txBox="1"/>
          <p:nvPr/>
        </p:nvSpPr>
        <p:spPr>
          <a:xfrm>
            <a:off x="1325880" y="4626864"/>
            <a:ext cx="5029200" cy="658368"/>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Clear all  </a:t>
            </a:r>
            <a:pPr indent="0" marL="0">
              <a:spcAft>
                <a:spcPts val="400"/>
              </a:spcAft>
              <a:buNone/>
            </a:pPr>
            <a:r>
              <a:rPr lang="en-US" sz="1600" dirty="0">
                <a:solidFill>
                  <a:schemeClr val="bg2"/>
                </a:solidFill>
              </a:rPr>
              <a:t>removes every level</a:t>
            </a:r>
            <a:endParaRPr lang="en-US" sz="1600" dirty="0"/>
          </a:p>
        </p:txBody>
      </p:sp>
      <p:sp>
        <p:nvSpPr>
          <p:cNvPr id="17" name="Screenshot placeholder"/>
          <p:cNvSpPr/>
          <p:nvPr/>
        </p:nvSpPr>
        <p:spPr>
          <a:xfrm>
            <a:off x="7040880" y="1417320"/>
            <a:ext cx="4599432" cy="3977640"/>
          </a:xfrm>
          <a:prstGeom prst="roundRect">
            <a:avLst>
              <a:gd name="adj" fmla="val 2759"/>
            </a:avLst>
          </a:prstGeom>
          <a:solidFill>
            <a:schemeClr val="tx2">
              <a:alpha val="65000"/>
            </a:schemeClr>
          </a:solidFill>
          <a:ln w="15875">
            <a:solidFill>
              <a:schemeClr val="accent1"/>
            </a:solidFill>
            <a:prstDash val="dash"/>
          </a:ln>
        </p:spPr>
      </p:sp>
      <p:pic>
        <p:nvPicPr>
          <p:cNvPr id="18" name="Screenshot icon" descr="preencoded.png">    </p:cNvPr>
          <p:cNvPicPr>
            <a:picLocks noChangeAspect="1"/>
          </p:cNvPicPr>
          <p:nvPr/>
        </p:nvPicPr>
        <p:blipFill>
          <a:blip r:embed="rId7"/>
          <a:stretch>
            <a:fillRect/>
          </a:stretch>
        </p:blipFill>
        <p:spPr>
          <a:xfrm>
            <a:off x="9066276" y="2766060"/>
            <a:ext cx="548640" cy="548640"/>
          </a:xfrm>
          <a:prstGeom prst="rect">
            <a:avLst/>
          </a:prstGeom>
        </p:spPr>
      </p:pic>
      <p:sp>
        <p:nvSpPr>
          <p:cNvPr id="19" name="Screenshot label"/>
          <p:cNvSpPr txBox="1"/>
          <p:nvPr/>
        </p:nvSpPr>
        <p:spPr>
          <a:xfrm>
            <a:off x="7315200" y="3451860"/>
            <a:ext cx="4050792" cy="822960"/>
          </a:xfrm>
          <a:prstGeom prst="rect">
            <a:avLst/>
          </a:prstGeom>
          <a:noFill/>
          <a:ln/>
        </p:spPr>
        <p:txBody>
          <a:bodyPr wrap="square" lIns="0" tIns="0" rIns="0" bIns="0" rtlCol="0" anchor="t"/>
          <a:lstStyle/>
          <a:p>
            <a:pPr algn="ctr" indent="0" marL="0">
              <a:spcAft>
                <a:spcPts val="400"/>
              </a:spcAft>
              <a:buNone/>
            </a:pPr>
            <a:r>
              <a:rPr lang="en-US" sz="1300" b="1" dirty="0">
                <a:solidFill>
                  <a:schemeClr val="bg2"/>
                </a:solidFill>
              </a:rPr>
              <a:t>Insert screenshot</a:t>
            </a:r>
            <a:endParaRPr lang="en-US" sz="1300" dirty="0"/>
          </a:p>
          <a:p>
            <a:pPr algn="ctr" indent="0" marL="0">
              <a:spcAft>
                <a:spcPts val="400"/>
              </a:spcAft>
              <a:buNone/>
            </a:pPr>
            <a:r>
              <a:rPr lang="en-US" sz="1300" dirty="0">
                <a:solidFill>
                  <a:schemeClr val="bg2"/>
                </a:solidFill>
              </a:rPr>
              <a:t>Safety Stock screen with a few quantities filled in</a:t>
            </a:r>
            <a:endParaRPr lang="en-US" sz="1300" dirty="0"/>
          </a:p>
        </p:txBody>
      </p:sp>
      <p:sp>
        <p:nvSpPr>
          <p:cNvPr id="20"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1" name="Benefit icon" descr="preencoded.png">    </p:cNvPr>
          <p:cNvPicPr>
            <a:picLocks noChangeAspect="1"/>
          </p:cNvPicPr>
          <p:nvPr/>
        </p:nvPicPr>
        <p:blipFill>
          <a:blip r:embed="rId8"/>
          <a:stretch>
            <a:fillRect/>
          </a:stretch>
        </p:blipFill>
        <p:spPr>
          <a:xfrm>
            <a:off x="749808" y="5733288"/>
            <a:ext cx="292608" cy="292608"/>
          </a:xfrm>
          <a:prstGeom prst="rect">
            <a:avLst/>
          </a:prstGeom>
        </p:spPr>
      </p:pic>
      <p:sp>
        <p:nvSpPr>
          <p:cNvPr id="22" name="Text 14"/>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Head office can see your minimum needs and plan supply around them.</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A day in the life of a branch order</a:t>
            </a:r>
            <a:endParaRPr lang="en-US" sz="3400" dirty="0"/>
          </a:p>
        </p:txBody>
      </p:sp>
      <p:sp>
        <p:nvSpPr>
          <p:cNvPr id="6" name="Text 3"/>
          <p:cNvSpPr txBox="1"/>
          <p:nvPr/>
        </p:nvSpPr>
        <p:spPr>
          <a:xfrm>
            <a:off x="548640" y="1325880"/>
            <a:ext cx="3657600" cy="274320"/>
          </a:xfrm>
          <a:prstGeom prst="rect">
            <a:avLst/>
          </a:prstGeom>
          <a:noFill/>
          <a:ln/>
        </p:spPr>
        <p:txBody>
          <a:bodyPr wrap="square" lIns="0" tIns="0" rIns="0" bIns="0" rtlCol="0" anchor="t"/>
          <a:lstStyle/>
          <a:p>
            <a:pPr indent="0" marL="0">
              <a:spcAft>
                <a:spcPts val="400"/>
              </a:spcAft>
              <a:buNone/>
            </a:pPr>
            <a:r>
              <a:rPr lang="en-US" sz="1300" b="1" spc="100" kern="0" dirty="0">
                <a:solidFill>
                  <a:schemeClr val="bg2"/>
                </a:solidFill>
              </a:rPr>
              <a:t>TODAY (ORDER DAY)</a:t>
            </a:r>
            <a:endParaRPr lang="en-US" sz="1300" dirty="0"/>
          </a:p>
        </p:txBody>
      </p:sp>
      <p:sp>
        <p:nvSpPr>
          <p:cNvPr id="7" name="Flow Check stock, save draft"/>
          <p:cNvSpPr/>
          <p:nvPr/>
        </p:nvSpPr>
        <p:spPr>
          <a:xfrm>
            <a:off x="548640" y="169164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8" name="Text 5"/>
          <p:cNvSpPr txBox="1"/>
          <p:nvPr/>
        </p:nvSpPr>
        <p:spPr>
          <a:xfrm>
            <a:off x="68580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Check stock, save draft</a:t>
            </a:r>
            <a:endParaRPr lang="en-US" sz="1500" dirty="0"/>
          </a:p>
          <a:p>
            <a:pPr algn="ctr" indent="0" marL="0">
              <a:spcAft>
                <a:spcPts val="200"/>
              </a:spcAft>
              <a:buNone/>
            </a:pPr>
            <a:r>
              <a:rPr lang="en-US" sz="1400" dirty="0">
                <a:solidFill>
                  <a:schemeClr val="bg2"/>
                </a:solidFill>
              </a:rPr>
              <a:t>New Order tab</a:t>
            </a:r>
            <a:endParaRPr lang="en-US" sz="1500" dirty="0"/>
          </a:p>
        </p:txBody>
      </p:sp>
      <p:sp>
        <p:nvSpPr>
          <p:cNvPr id="9" name="Flow Submit by 2:00 PM"/>
          <p:cNvSpPr/>
          <p:nvPr/>
        </p:nvSpPr>
        <p:spPr>
          <a:xfrm>
            <a:off x="4480560" y="1691640"/>
            <a:ext cx="3246120" cy="914400"/>
          </a:xfrm>
          <a:prstGeom prst="roundRect">
            <a:avLst>
              <a:gd name="adj" fmla="val 12000"/>
            </a:avLst>
          </a:prstGeom>
          <a:solidFill>
            <a:schemeClr val="accent1">
              <a:alpha val="22000"/>
            </a:schemeClr>
          </a:solidFill>
          <a:ln w="31750">
            <a:solidFill>
              <a:schemeClr val="accent1"/>
            </a:solidFill>
            <a:prstDash val="solid"/>
          </a:ln>
        </p:spPr>
      </p:sp>
      <p:sp>
        <p:nvSpPr>
          <p:cNvPr id="10" name="Text 7"/>
          <p:cNvSpPr txBox="1"/>
          <p:nvPr/>
        </p:nvSpPr>
        <p:spPr>
          <a:xfrm>
            <a:off x="461772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Submit by 2:00 PM</a:t>
            </a:r>
            <a:endParaRPr lang="en-US" sz="1500" dirty="0"/>
          </a:p>
          <a:p>
            <a:pPr algn="ctr" indent="0" marL="0">
              <a:spcAft>
                <a:spcPts val="200"/>
              </a:spcAft>
              <a:buNone/>
            </a:pPr>
            <a:r>
              <a:rPr lang="en-US" sz="1400" dirty="0">
                <a:solidFill>
                  <a:schemeClr val="bg2"/>
                </a:solidFill>
              </a:rPr>
              <a:t>Order locks: SUBMITTED</a:t>
            </a:r>
            <a:endParaRPr lang="en-US" sz="1500" dirty="0"/>
          </a:p>
        </p:txBody>
      </p:sp>
      <p:sp>
        <p:nvSpPr>
          <p:cNvPr id="11" name="Flow Head office assigns"/>
          <p:cNvSpPr/>
          <p:nvPr/>
        </p:nvSpPr>
        <p:spPr>
          <a:xfrm>
            <a:off x="8412480" y="169164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2" name="Text 9"/>
          <p:cNvSpPr txBox="1"/>
          <p:nvPr/>
        </p:nvSpPr>
        <p:spPr>
          <a:xfrm>
            <a:off x="8549640" y="169164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Head office assigns</a:t>
            </a:r>
            <a:endParaRPr lang="en-US" sz="1500" dirty="0"/>
          </a:p>
          <a:p>
            <a:pPr algn="ctr" indent="0" marL="0">
              <a:spcAft>
                <a:spcPts val="200"/>
              </a:spcAft>
              <a:buNone/>
            </a:pPr>
            <a:r>
              <a:rPr lang="en-US" sz="1400" dirty="0">
                <a:solidFill>
                  <a:schemeClr val="bg2"/>
                </a:solidFill>
              </a:rPr>
              <a:t>Status becomes ASSIGNED</a:t>
            </a:r>
            <a:endParaRPr lang="en-US" sz="1500" dirty="0"/>
          </a:p>
        </p:txBody>
      </p:sp>
      <p:sp>
        <p:nvSpPr>
          <p:cNvPr id="13" name="Flow Delivery arrives"/>
          <p:cNvSpPr/>
          <p:nvPr/>
        </p:nvSpPr>
        <p:spPr>
          <a:xfrm>
            <a:off x="548640" y="452628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4" name="Text 11"/>
          <p:cNvSpPr txBox="1"/>
          <p:nvPr/>
        </p:nvSpPr>
        <p:spPr>
          <a:xfrm>
            <a:off x="685800" y="452628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Delivery arrives</a:t>
            </a:r>
            <a:endParaRPr lang="en-US" sz="1500" dirty="0"/>
          </a:p>
          <a:p>
            <a:pPr algn="ctr" indent="0" marL="0">
              <a:spcAft>
                <a:spcPts val="200"/>
              </a:spcAft>
              <a:buNone/>
            </a:pPr>
            <a:r>
              <a:rPr lang="en-US" sz="1400" dirty="0">
                <a:solidFill>
                  <a:schemeClr val="bg2"/>
                </a:solidFill>
              </a:rPr>
              <a:t>Check it against the PO</a:t>
            </a:r>
            <a:endParaRPr lang="en-US" sz="1500" dirty="0"/>
          </a:p>
        </p:txBody>
      </p:sp>
      <p:sp>
        <p:nvSpPr>
          <p:cNvPr id="15" name="Flow Confirm Delivery"/>
          <p:cNvSpPr/>
          <p:nvPr/>
        </p:nvSpPr>
        <p:spPr>
          <a:xfrm>
            <a:off x="4480560" y="4526280"/>
            <a:ext cx="3246120" cy="914400"/>
          </a:xfrm>
          <a:prstGeom prst="roundRect">
            <a:avLst>
              <a:gd name="adj" fmla="val 12000"/>
            </a:avLst>
          </a:prstGeom>
          <a:solidFill>
            <a:schemeClr val="accent6">
              <a:alpha val="88000"/>
            </a:schemeClr>
          </a:solidFill>
          <a:ln w="12700">
            <a:solidFill>
              <a:schemeClr val="accent5"/>
            </a:solidFill>
            <a:prstDash val="solid"/>
          </a:ln>
        </p:spPr>
      </p:sp>
      <p:sp>
        <p:nvSpPr>
          <p:cNvPr id="16" name="Text 13"/>
          <p:cNvSpPr txBox="1"/>
          <p:nvPr/>
        </p:nvSpPr>
        <p:spPr>
          <a:xfrm>
            <a:off x="4617720" y="4526280"/>
            <a:ext cx="2971800" cy="914400"/>
          </a:xfrm>
          <a:prstGeom prst="rect">
            <a:avLst/>
          </a:prstGeom>
          <a:noFill/>
          <a:ln/>
        </p:spPr>
        <p:txBody>
          <a:bodyPr wrap="square" lIns="0" tIns="0" rIns="0" bIns="0" rtlCol="0" anchor="ctr"/>
          <a:lstStyle/>
          <a:p>
            <a:pPr algn="ctr" indent="0" marL="0">
              <a:spcAft>
                <a:spcPts val="200"/>
              </a:spcAft>
              <a:buNone/>
            </a:pPr>
            <a:r>
              <a:rPr lang="en-US" sz="1700" b="1" dirty="0">
                <a:solidFill>
                  <a:schemeClr val="bg1"/>
                </a:solidFill>
              </a:rPr>
              <a:t>Confirm Delivery</a:t>
            </a:r>
            <a:endParaRPr lang="en-US" sz="1500" dirty="0"/>
          </a:p>
          <a:p>
            <a:pPr algn="ctr" indent="0" marL="0">
              <a:spcAft>
                <a:spcPts val="200"/>
              </a:spcAft>
              <a:buNone/>
            </a:pPr>
            <a:r>
              <a:rPr lang="en-US" sz="1400" dirty="0">
                <a:solidFill>
                  <a:schemeClr val="bg2"/>
                </a:solidFill>
              </a:rPr>
              <a:t>Status becomes CONFIRMED</a:t>
            </a:r>
            <a:endParaRPr lang="en-US" sz="1500" dirty="0"/>
          </a:p>
        </p:txBody>
      </p:sp>
      <p:sp>
        <p:nvSpPr>
          <p:cNvPr id="17" name="Flow arrow 1"/>
          <p:cNvSpPr/>
          <p:nvPr/>
        </p:nvSpPr>
        <p:spPr>
          <a:xfrm>
            <a:off x="3840480" y="2148840"/>
            <a:ext cx="594360" cy="0"/>
          </a:xfrm>
          <a:prstGeom prst="line">
            <a:avLst/>
          </a:prstGeom>
          <a:noFill/>
          <a:ln w="22225">
            <a:solidFill>
              <a:schemeClr val="bg2"/>
            </a:solidFill>
            <a:prstDash val="solid"/>
            <a:tailEnd type="triangle"/>
          </a:ln>
        </p:spPr>
      </p:sp>
      <p:sp>
        <p:nvSpPr>
          <p:cNvPr id="18" name="Flow arrow 2"/>
          <p:cNvSpPr/>
          <p:nvPr/>
        </p:nvSpPr>
        <p:spPr>
          <a:xfrm>
            <a:off x="7772400" y="2148840"/>
            <a:ext cx="594360" cy="0"/>
          </a:xfrm>
          <a:prstGeom prst="line">
            <a:avLst/>
          </a:prstGeom>
          <a:noFill/>
          <a:ln w="22225">
            <a:solidFill>
              <a:schemeClr val="bg2"/>
            </a:solidFill>
            <a:prstDash val="solid"/>
            <a:tailEnd type="triangle"/>
          </a:ln>
        </p:spPr>
      </p:sp>
      <p:sp>
        <p:nvSpPr>
          <p:cNvPr id="19" name="Missed arrow"/>
          <p:cNvSpPr/>
          <p:nvPr/>
        </p:nvSpPr>
        <p:spPr>
          <a:xfrm>
            <a:off x="6103620" y="2651760"/>
            <a:ext cx="0" cy="320040"/>
          </a:xfrm>
          <a:prstGeom prst="line">
            <a:avLst/>
          </a:prstGeom>
          <a:noFill/>
          <a:ln w="19050">
            <a:solidFill>
              <a:schemeClr val="accent4"/>
            </a:solidFill>
            <a:prstDash val="dash"/>
            <a:tailEnd type="triangle"/>
          </a:ln>
        </p:spPr>
      </p:sp>
      <p:sp>
        <p:nvSpPr>
          <p:cNvPr id="20" name="Missed cutoff box"/>
          <p:cNvSpPr/>
          <p:nvPr/>
        </p:nvSpPr>
        <p:spPr>
          <a:xfrm>
            <a:off x="4663440" y="3017520"/>
            <a:ext cx="2880360" cy="868680"/>
          </a:xfrm>
          <a:prstGeom prst="roundRect">
            <a:avLst>
              <a:gd name="adj" fmla="val 12632"/>
            </a:avLst>
          </a:prstGeom>
          <a:solidFill>
            <a:schemeClr val="accent6">
              <a:alpha val="80000"/>
            </a:schemeClr>
          </a:solidFill>
          <a:ln w="12700">
            <a:solidFill>
              <a:schemeClr val="accent4"/>
            </a:solidFill>
            <a:prstDash val="dash"/>
          </a:ln>
        </p:spPr>
      </p:sp>
      <p:sp>
        <p:nvSpPr>
          <p:cNvPr id="21" name="Text 18"/>
          <p:cNvSpPr txBox="1"/>
          <p:nvPr/>
        </p:nvSpPr>
        <p:spPr>
          <a:xfrm>
            <a:off x="4754880" y="3017520"/>
            <a:ext cx="2697480" cy="86868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4"/>
                </a:solidFill>
              </a:rPr>
              <a:t>Missed 2:00 PM?</a:t>
            </a:r>
            <a:endParaRPr lang="en-US" sz="1600" dirty="0"/>
          </a:p>
          <a:p>
            <a:pPr algn="ctr" indent="0" marL="0">
              <a:spcAft>
                <a:spcPts val="200"/>
              </a:spcAft>
              <a:buNone/>
            </a:pPr>
            <a:r>
              <a:rPr lang="en-US" sz="1400" dirty="0">
                <a:solidFill>
                  <a:schemeClr val="bg2"/>
                </a:solidFill>
              </a:rPr>
              <a:t>Auto-order: draft or past week</a:t>
            </a:r>
            <a:endParaRPr lang="en-US" sz="1600" dirty="0"/>
          </a:p>
        </p:txBody>
      </p:sp>
      <p:sp>
        <p:nvSpPr>
          <p:cNvPr id="22" name="Elbow down"/>
          <p:cNvSpPr/>
          <p:nvPr/>
        </p:nvSpPr>
        <p:spPr>
          <a:xfrm>
            <a:off x="10035540" y="2651760"/>
            <a:ext cx="0" cy="1463040"/>
          </a:xfrm>
          <a:prstGeom prst="line">
            <a:avLst/>
          </a:prstGeom>
          <a:noFill/>
          <a:ln w="22225">
            <a:solidFill>
              <a:schemeClr val="bg2"/>
            </a:solidFill>
            <a:prstDash val="solid"/>
          </a:ln>
        </p:spPr>
      </p:sp>
      <p:sp>
        <p:nvSpPr>
          <p:cNvPr id="23" name="Elbow across"/>
          <p:cNvSpPr/>
          <p:nvPr/>
        </p:nvSpPr>
        <p:spPr>
          <a:xfrm>
            <a:off x="2171700" y="4114800"/>
            <a:ext cx="7863840" cy="0"/>
          </a:xfrm>
          <a:prstGeom prst="line">
            <a:avLst/>
          </a:prstGeom>
          <a:noFill/>
          <a:ln w="22225">
            <a:solidFill>
              <a:schemeClr val="bg2"/>
            </a:solidFill>
            <a:prstDash val="solid"/>
          </a:ln>
        </p:spPr>
      </p:sp>
      <p:sp>
        <p:nvSpPr>
          <p:cNvPr id="24" name="Elbow into delivery"/>
          <p:cNvSpPr/>
          <p:nvPr/>
        </p:nvSpPr>
        <p:spPr>
          <a:xfrm>
            <a:off x="2171700" y="4114800"/>
            <a:ext cx="0" cy="365760"/>
          </a:xfrm>
          <a:prstGeom prst="line">
            <a:avLst/>
          </a:prstGeom>
          <a:noFill/>
          <a:ln w="22225">
            <a:solidFill>
              <a:schemeClr val="bg2"/>
            </a:solidFill>
            <a:prstDash val="solid"/>
            <a:tailEnd type="triangle"/>
          </a:ln>
        </p:spPr>
      </p:sp>
      <p:sp>
        <p:nvSpPr>
          <p:cNvPr id="25" name="Text 22"/>
          <p:cNvSpPr txBox="1"/>
          <p:nvPr/>
        </p:nvSpPr>
        <p:spPr>
          <a:xfrm>
            <a:off x="7109460" y="3767328"/>
            <a:ext cx="2788920" cy="274320"/>
          </a:xfrm>
          <a:prstGeom prst="rect">
            <a:avLst/>
          </a:prstGeom>
          <a:noFill/>
          <a:ln/>
        </p:spPr>
        <p:txBody>
          <a:bodyPr wrap="square" lIns="0" tIns="0" rIns="0" bIns="0" rtlCol="0" anchor="t"/>
          <a:lstStyle/>
          <a:p>
            <a:pPr algn="r" indent="0" marL="0">
              <a:spcAft>
                <a:spcPts val="400"/>
              </a:spcAft>
              <a:buNone/>
            </a:pPr>
            <a:r>
              <a:rPr lang="en-US" sz="1300" dirty="0">
                <a:solidFill>
                  <a:schemeClr val="bg2"/>
                </a:solidFill>
              </a:rPr>
              <a:t>supplier delivers next day</a:t>
            </a:r>
            <a:endParaRPr lang="en-US" sz="1300" dirty="0"/>
          </a:p>
        </p:txBody>
      </p:sp>
      <p:sp>
        <p:nvSpPr>
          <p:cNvPr id="26" name="Text 23"/>
          <p:cNvSpPr txBox="1"/>
          <p:nvPr/>
        </p:nvSpPr>
        <p:spPr>
          <a:xfrm>
            <a:off x="2354580" y="4187952"/>
            <a:ext cx="3657600" cy="274320"/>
          </a:xfrm>
          <a:prstGeom prst="rect">
            <a:avLst/>
          </a:prstGeom>
          <a:noFill/>
          <a:ln/>
        </p:spPr>
        <p:txBody>
          <a:bodyPr wrap="square" lIns="0" tIns="0" rIns="0" bIns="0" rtlCol="0" anchor="t"/>
          <a:lstStyle/>
          <a:p>
            <a:pPr indent="0" marL="0">
              <a:spcAft>
                <a:spcPts val="400"/>
              </a:spcAft>
              <a:buNone/>
            </a:pPr>
            <a:r>
              <a:rPr lang="en-US" sz="1300" b="1" spc="100" kern="0" dirty="0">
                <a:solidFill>
                  <a:schemeClr val="bg2"/>
                </a:solidFill>
              </a:rPr>
              <a:t>TOMORROW (DELIVERY DAY)</a:t>
            </a:r>
            <a:endParaRPr lang="en-US" sz="1300" dirty="0"/>
          </a:p>
        </p:txBody>
      </p:sp>
      <p:sp>
        <p:nvSpPr>
          <p:cNvPr id="27" name="Flow arrow 3"/>
          <p:cNvSpPr/>
          <p:nvPr/>
        </p:nvSpPr>
        <p:spPr>
          <a:xfrm>
            <a:off x="3840480" y="4983480"/>
            <a:ext cx="594360" cy="0"/>
          </a:xfrm>
          <a:prstGeom prst="line">
            <a:avLst/>
          </a:prstGeom>
          <a:noFill/>
          <a:ln w="22225">
            <a:solidFill>
              <a:schemeClr val="bg2"/>
            </a:solidFill>
            <a:prstDash val="solid"/>
            <a:tailEnd type="triangle"/>
          </a:ln>
        </p:spPr>
      </p:sp>
      <p:sp>
        <p:nvSpPr>
          <p:cNvPr id="28" name="Text 25"/>
          <p:cNvSpPr txBox="1"/>
          <p:nvPr/>
        </p:nvSpPr>
        <p:spPr>
          <a:xfrm>
            <a:off x="8412480" y="4526280"/>
            <a:ext cx="3246120" cy="914400"/>
          </a:xfrm>
          <a:prstGeom prst="rect">
            <a:avLst/>
          </a:prstGeom>
          <a:noFill/>
          <a:ln/>
        </p:spPr>
        <p:txBody>
          <a:bodyPr wrap="square" lIns="0" tIns="0" rIns="0" bIns="0" rtlCol="0" anchor="ctr"/>
          <a:lstStyle/>
          <a:p>
            <a:pPr indent="0" marL="0">
              <a:spcAft>
                <a:spcPts val="400"/>
              </a:spcAft>
              <a:buNone/>
            </a:pPr>
            <a:r>
              <a:rPr lang="en-US" sz="1500" i="1" dirty="0">
                <a:solidFill>
                  <a:schemeClr val="accent1"/>
                </a:solidFill>
              </a:rPr>
              <a:t>The one time to remember is 2:00 PM. The dashed box is the safety net, not the plan.</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What's in it for your branch</a:t>
            </a:r>
            <a:endParaRPr lang="en-US" sz="3400" dirty="0"/>
          </a:p>
        </p:txBody>
      </p:sp>
      <p:sp>
        <p:nvSpPr>
          <p:cNvPr id="6" name="Benefit card 1"/>
          <p:cNvSpPr/>
          <p:nvPr/>
        </p:nvSpPr>
        <p:spPr>
          <a:xfrm>
            <a:off x="548640"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7" name="Benefit 1 circle"/>
          <p:cNvSpPr/>
          <p:nvPr/>
        </p:nvSpPr>
        <p:spPr>
          <a:xfrm>
            <a:off x="777240" y="1645920"/>
            <a:ext cx="658368" cy="658368"/>
          </a:xfrm>
          <a:prstGeom prst="ellipse">
            <a:avLst/>
          </a:prstGeom>
          <a:solidFill>
            <a:schemeClr val="tx2">
              <a:alpha val="80000"/>
            </a:schemeClr>
          </a:solidFill>
          <a:ln w="19050">
            <a:solidFill>
              <a:schemeClr val="accent2"/>
            </a:solidFill>
            <a:prstDash val="solid"/>
          </a:ln>
        </p:spPr>
      </p:sp>
      <p:pic>
        <p:nvPicPr>
          <p:cNvPr id="8" name="Benefit 1 icon" descr="preencoded.png">    </p:cNvPr>
          <p:cNvPicPr>
            <a:picLocks noChangeAspect="1"/>
          </p:cNvPicPr>
          <p:nvPr/>
        </p:nvPicPr>
        <p:blipFill>
          <a:blip r:embed="rId4"/>
          <a:stretch>
            <a:fillRect/>
          </a:stretch>
        </p:blipFill>
        <p:spPr>
          <a:xfrm>
            <a:off x="935248" y="1803928"/>
            <a:ext cx="342351" cy="342351"/>
          </a:xfrm>
          <a:prstGeom prst="rect">
            <a:avLst/>
          </a:prstGeom>
        </p:spPr>
      </p:pic>
      <p:sp>
        <p:nvSpPr>
          <p:cNvPr id="9" name="Text 5"/>
          <p:cNvSpPr txBox="1"/>
          <p:nvPr/>
        </p:nvSpPr>
        <p:spPr>
          <a:xfrm>
            <a:off x="777240"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Order online in minutes</a:t>
            </a:r>
            <a:endParaRPr lang="en-US" sz="1500" dirty="0"/>
          </a:p>
          <a:p>
            <a:pPr indent="0" marL="0">
              <a:spcAft>
                <a:spcPts val="400"/>
              </a:spcAft>
              <a:buNone/>
            </a:pPr>
            <a:r>
              <a:rPr lang="en-US" sz="1400" dirty="0">
                <a:solidFill>
                  <a:schemeClr val="bg2"/>
                </a:solidFill>
              </a:rPr>
              <a:t>No calls, messages or paper to chase</a:t>
            </a:r>
            <a:endParaRPr lang="en-US" sz="1500" dirty="0"/>
          </a:p>
        </p:txBody>
      </p:sp>
      <p:sp>
        <p:nvSpPr>
          <p:cNvPr id="10" name="Benefit card 2"/>
          <p:cNvSpPr/>
          <p:nvPr/>
        </p:nvSpPr>
        <p:spPr>
          <a:xfrm>
            <a:off x="3355848"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11" name="Benefit 2 circle"/>
          <p:cNvSpPr/>
          <p:nvPr/>
        </p:nvSpPr>
        <p:spPr>
          <a:xfrm>
            <a:off x="3584448" y="1645920"/>
            <a:ext cx="658368" cy="658368"/>
          </a:xfrm>
          <a:prstGeom prst="ellipse">
            <a:avLst/>
          </a:prstGeom>
          <a:solidFill>
            <a:schemeClr val="tx2">
              <a:alpha val="80000"/>
            </a:schemeClr>
          </a:solidFill>
          <a:ln w="19050">
            <a:solidFill>
              <a:schemeClr val="accent2"/>
            </a:solidFill>
            <a:prstDash val="solid"/>
          </a:ln>
        </p:spPr>
      </p:sp>
      <p:pic>
        <p:nvPicPr>
          <p:cNvPr id="12" name="Benefit 2 icon" descr="preencoded.png">    </p:cNvPr>
          <p:cNvPicPr>
            <a:picLocks noChangeAspect="1"/>
          </p:cNvPicPr>
          <p:nvPr/>
        </p:nvPicPr>
        <p:blipFill>
          <a:blip r:embed="rId5"/>
          <a:stretch>
            <a:fillRect/>
          </a:stretch>
        </p:blipFill>
        <p:spPr>
          <a:xfrm>
            <a:off x="3742456" y="1803928"/>
            <a:ext cx="342351" cy="342351"/>
          </a:xfrm>
          <a:prstGeom prst="rect">
            <a:avLst/>
          </a:prstGeom>
        </p:spPr>
      </p:pic>
      <p:sp>
        <p:nvSpPr>
          <p:cNvPr id="13" name="Text 8"/>
          <p:cNvSpPr txBox="1"/>
          <p:nvPr/>
        </p:nvSpPr>
        <p:spPr>
          <a:xfrm>
            <a:off x="3584448"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Stock in hand while ordering</a:t>
            </a:r>
            <a:endParaRPr lang="en-US" sz="1500" dirty="0"/>
          </a:p>
          <a:p>
            <a:pPr indent="0" marL="0">
              <a:spcAft>
                <a:spcPts val="400"/>
              </a:spcAft>
              <a:buNone/>
            </a:pPr>
            <a:r>
              <a:rPr lang="en-US" sz="1400" dirty="0">
                <a:solidFill>
                  <a:schemeClr val="bg2"/>
                </a:solidFill>
              </a:rPr>
              <a:t>Order what you need, waste less</a:t>
            </a:r>
            <a:endParaRPr lang="en-US" sz="1500" dirty="0"/>
          </a:p>
        </p:txBody>
      </p:sp>
      <p:sp>
        <p:nvSpPr>
          <p:cNvPr id="14" name="Benefit card 3"/>
          <p:cNvSpPr/>
          <p:nvPr/>
        </p:nvSpPr>
        <p:spPr>
          <a:xfrm>
            <a:off x="6163056"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15" name="Benefit 3 circle"/>
          <p:cNvSpPr/>
          <p:nvPr/>
        </p:nvSpPr>
        <p:spPr>
          <a:xfrm>
            <a:off x="6391656" y="1645920"/>
            <a:ext cx="658368" cy="658368"/>
          </a:xfrm>
          <a:prstGeom prst="ellipse">
            <a:avLst/>
          </a:prstGeom>
          <a:solidFill>
            <a:schemeClr val="tx2">
              <a:alpha val="80000"/>
            </a:schemeClr>
          </a:solidFill>
          <a:ln w="19050">
            <a:solidFill>
              <a:schemeClr val="accent2"/>
            </a:solidFill>
            <a:prstDash val="solid"/>
          </a:ln>
        </p:spPr>
      </p:sp>
      <p:pic>
        <p:nvPicPr>
          <p:cNvPr id="16" name="Benefit 3 icon" descr="preencoded.png">    </p:cNvPr>
          <p:cNvPicPr>
            <a:picLocks noChangeAspect="1"/>
          </p:cNvPicPr>
          <p:nvPr/>
        </p:nvPicPr>
        <p:blipFill>
          <a:blip r:embed="rId6"/>
          <a:stretch>
            <a:fillRect/>
          </a:stretch>
        </p:blipFill>
        <p:spPr>
          <a:xfrm>
            <a:off x="6549664" y="1803928"/>
            <a:ext cx="342351" cy="342351"/>
          </a:xfrm>
          <a:prstGeom prst="rect">
            <a:avLst/>
          </a:prstGeom>
        </p:spPr>
      </p:pic>
      <p:sp>
        <p:nvSpPr>
          <p:cNvPr id="17" name="Text 11"/>
          <p:cNvSpPr txBox="1"/>
          <p:nvPr/>
        </p:nvSpPr>
        <p:spPr>
          <a:xfrm>
            <a:off x="6391656"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Save a draft, submit later</a:t>
            </a:r>
            <a:endParaRPr lang="en-US" sz="1500" dirty="0"/>
          </a:p>
          <a:p>
            <a:pPr indent="0" marL="0">
              <a:spcAft>
                <a:spcPts val="400"/>
              </a:spcAft>
              <a:buNone/>
            </a:pPr>
            <a:r>
              <a:rPr lang="en-US" sz="1400" dirty="0">
                <a:solidFill>
                  <a:schemeClr val="bg2"/>
                </a:solidFill>
              </a:rPr>
              <a:t>Order around your busy hours</a:t>
            </a:r>
            <a:endParaRPr lang="en-US" sz="1500" dirty="0"/>
          </a:p>
        </p:txBody>
      </p:sp>
      <p:sp>
        <p:nvSpPr>
          <p:cNvPr id="18" name="Benefit card 4"/>
          <p:cNvSpPr/>
          <p:nvPr/>
        </p:nvSpPr>
        <p:spPr>
          <a:xfrm>
            <a:off x="8970264" y="141732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19" name="Benefit 4 circle"/>
          <p:cNvSpPr/>
          <p:nvPr/>
        </p:nvSpPr>
        <p:spPr>
          <a:xfrm>
            <a:off x="9198864" y="1645920"/>
            <a:ext cx="658368" cy="658368"/>
          </a:xfrm>
          <a:prstGeom prst="ellipse">
            <a:avLst/>
          </a:prstGeom>
          <a:solidFill>
            <a:schemeClr val="tx2">
              <a:alpha val="80000"/>
            </a:schemeClr>
          </a:solidFill>
          <a:ln w="19050">
            <a:solidFill>
              <a:schemeClr val="accent2"/>
            </a:solidFill>
            <a:prstDash val="solid"/>
          </a:ln>
        </p:spPr>
      </p:sp>
      <p:pic>
        <p:nvPicPr>
          <p:cNvPr id="20" name="Benefit 4 icon" descr="preencoded.png">    </p:cNvPr>
          <p:cNvPicPr>
            <a:picLocks noChangeAspect="1"/>
          </p:cNvPicPr>
          <p:nvPr/>
        </p:nvPicPr>
        <p:blipFill>
          <a:blip r:embed="rId7"/>
          <a:stretch>
            <a:fillRect/>
          </a:stretch>
        </p:blipFill>
        <p:spPr>
          <a:xfrm>
            <a:off x="9356872" y="1803928"/>
            <a:ext cx="342351" cy="342351"/>
          </a:xfrm>
          <a:prstGeom prst="rect">
            <a:avLst/>
          </a:prstGeom>
        </p:spPr>
      </p:pic>
      <p:sp>
        <p:nvSpPr>
          <p:cNvPr id="21" name="Text 14"/>
          <p:cNvSpPr txBox="1"/>
          <p:nvPr/>
        </p:nvSpPr>
        <p:spPr>
          <a:xfrm>
            <a:off x="9198864" y="244144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Automatic order if you miss it</a:t>
            </a:r>
            <a:endParaRPr lang="en-US" sz="1500" dirty="0"/>
          </a:p>
          <a:p>
            <a:pPr indent="0" marL="0">
              <a:spcAft>
                <a:spcPts val="400"/>
              </a:spcAft>
              <a:buNone/>
            </a:pPr>
            <a:r>
              <a:rPr lang="en-US" sz="1400" dirty="0">
                <a:solidFill>
                  <a:schemeClr val="bg2"/>
                </a:solidFill>
              </a:rPr>
              <a:t>Shelves are never left empty</a:t>
            </a:r>
            <a:endParaRPr lang="en-US" sz="1500" dirty="0"/>
          </a:p>
        </p:txBody>
      </p:sp>
      <p:sp>
        <p:nvSpPr>
          <p:cNvPr id="22" name="Benefit card 5"/>
          <p:cNvSpPr/>
          <p:nvPr/>
        </p:nvSpPr>
        <p:spPr>
          <a:xfrm>
            <a:off x="548640"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23" name="Benefit 5 circle"/>
          <p:cNvSpPr/>
          <p:nvPr/>
        </p:nvSpPr>
        <p:spPr>
          <a:xfrm>
            <a:off x="777240" y="4023360"/>
            <a:ext cx="658368" cy="658368"/>
          </a:xfrm>
          <a:prstGeom prst="ellipse">
            <a:avLst/>
          </a:prstGeom>
          <a:solidFill>
            <a:schemeClr val="tx2">
              <a:alpha val="80000"/>
            </a:schemeClr>
          </a:solidFill>
          <a:ln w="19050">
            <a:solidFill>
              <a:schemeClr val="accent2"/>
            </a:solidFill>
            <a:prstDash val="solid"/>
          </a:ln>
        </p:spPr>
      </p:sp>
      <p:pic>
        <p:nvPicPr>
          <p:cNvPr id="24" name="Benefit 5 icon" descr="preencoded.png">    </p:cNvPr>
          <p:cNvPicPr>
            <a:picLocks noChangeAspect="1"/>
          </p:cNvPicPr>
          <p:nvPr/>
        </p:nvPicPr>
        <p:blipFill>
          <a:blip r:embed="rId8"/>
          <a:stretch>
            <a:fillRect/>
          </a:stretch>
        </p:blipFill>
        <p:spPr>
          <a:xfrm>
            <a:off x="935248" y="4181368"/>
            <a:ext cx="342351" cy="342351"/>
          </a:xfrm>
          <a:prstGeom prst="rect">
            <a:avLst/>
          </a:prstGeom>
        </p:spPr>
      </p:pic>
      <p:sp>
        <p:nvSpPr>
          <p:cNvPr id="25" name="Text 17"/>
          <p:cNvSpPr txBox="1"/>
          <p:nvPr/>
        </p:nvSpPr>
        <p:spPr>
          <a:xfrm>
            <a:off x="777240"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Live order status</a:t>
            </a:r>
            <a:endParaRPr lang="en-US" sz="1500" dirty="0"/>
          </a:p>
          <a:p>
            <a:pPr indent="0" marL="0">
              <a:spcAft>
                <a:spcPts val="400"/>
              </a:spcAft>
              <a:buNone/>
            </a:pPr>
            <a:r>
              <a:rPr lang="en-US" sz="1400" dirty="0">
                <a:solidFill>
                  <a:schemeClr val="bg2"/>
                </a:solidFill>
              </a:rPr>
              <a:t>Know where it is without phoning</a:t>
            </a:r>
            <a:endParaRPr lang="en-US" sz="1500" dirty="0"/>
          </a:p>
        </p:txBody>
      </p:sp>
      <p:sp>
        <p:nvSpPr>
          <p:cNvPr id="26" name="Benefit card 6"/>
          <p:cNvSpPr/>
          <p:nvPr/>
        </p:nvSpPr>
        <p:spPr>
          <a:xfrm>
            <a:off x="3355848"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27" name="Benefit 6 circle"/>
          <p:cNvSpPr/>
          <p:nvPr/>
        </p:nvSpPr>
        <p:spPr>
          <a:xfrm>
            <a:off x="3584448" y="4023360"/>
            <a:ext cx="658368" cy="658368"/>
          </a:xfrm>
          <a:prstGeom prst="ellipse">
            <a:avLst/>
          </a:prstGeom>
          <a:solidFill>
            <a:schemeClr val="tx2">
              <a:alpha val="80000"/>
            </a:schemeClr>
          </a:solidFill>
          <a:ln w="19050">
            <a:solidFill>
              <a:schemeClr val="accent2"/>
            </a:solidFill>
            <a:prstDash val="solid"/>
          </a:ln>
        </p:spPr>
      </p:sp>
      <p:pic>
        <p:nvPicPr>
          <p:cNvPr id="28" name="Benefit 6 icon" descr="preencoded.png">    </p:cNvPr>
          <p:cNvPicPr>
            <a:picLocks noChangeAspect="1"/>
          </p:cNvPicPr>
          <p:nvPr/>
        </p:nvPicPr>
        <p:blipFill>
          <a:blip r:embed="rId9"/>
          <a:stretch>
            <a:fillRect/>
          </a:stretch>
        </p:blipFill>
        <p:spPr>
          <a:xfrm>
            <a:off x="3742456" y="4181368"/>
            <a:ext cx="342351" cy="342351"/>
          </a:xfrm>
          <a:prstGeom prst="rect">
            <a:avLst/>
          </a:prstGeom>
        </p:spPr>
      </p:pic>
      <p:sp>
        <p:nvSpPr>
          <p:cNvPr id="29" name="Text 20"/>
          <p:cNvSpPr txBox="1"/>
          <p:nvPr/>
        </p:nvSpPr>
        <p:spPr>
          <a:xfrm>
            <a:off x="3584448"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Record what arrived</a:t>
            </a:r>
            <a:endParaRPr lang="en-US" sz="1500" dirty="0"/>
          </a:p>
          <a:p>
            <a:pPr indent="0" marL="0">
              <a:spcAft>
                <a:spcPts val="400"/>
              </a:spcAft>
              <a:buNone/>
            </a:pPr>
            <a:r>
              <a:rPr lang="en-US" sz="1400" dirty="0">
                <a:solidFill>
                  <a:schemeClr val="bg2"/>
                </a:solidFill>
              </a:rPr>
              <a:t>Shortages are on record and followed up</a:t>
            </a:r>
            <a:endParaRPr lang="en-US" sz="1500" dirty="0"/>
          </a:p>
        </p:txBody>
      </p:sp>
      <p:sp>
        <p:nvSpPr>
          <p:cNvPr id="30" name="Benefit card 7"/>
          <p:cNvSpPr/>
          <p:nvPr/>
        </p:nvSpPr>
        <p:spPr>
          <a:xfrm>
            <a:off x="6163056"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31" name="Benefit 7 circle"/>
          <p:cNvSpPr/>
          <p:nvPr/>
        </p:nvSpPr>
        <p:spPr>
          <a:xfrm>
            <a:off x="6391656" y="4023360"/>
            <a:ext cx="658368" cy="658368"/>
          </a:xfrm>
          <a:prstGeom prst="ellipse">
            <a:avLst/>
          </a:prstGeom>
          <a:solidFill>
            <a:schemeClr val="tx2">
              <a:alpha val="80000"/>
            </a:schemeClr>
          </a:solidFill>
          <a:ln w="19050">
            <a:solidFill>
              <a:schemeClr val="accent2"/>
            </a:solidFill>
            <a:prstDash val="solid"/>
          </a:ln>
        </p:spPr>
      </p:sp>
      <p:pic>
        <p:nvPicPr>
          <p:cNvPr id="32" name="Benefit 7 icon" descr="preencoded.png">    </p:cNvPr>
          <p:cNvPicPr>
            <a:picLocks noChangeAspect="1"/>
          </p:cNvPicPr>
          <p:nvPr/>
        </p:nvPicPr>
        <p:blipFill>
          <a:blip r:embed="rId10"/>
          <a:stretch>
            <a:fillRect/>
          </a:stretch>
        </p:blipFill>
        <p:spPr>
          <a:xfrm>
            <a:off x="6549664" y="4181368"/>
            <a:ext cx="342351" cy="342351"/>
          </a:xfrm>
          <a:prstGeom prst="rect">
            <a:avLst/>
          </a:prstGeom>
        </p:spPr>
      </p:pic>
      <p:sp>
        <p:nvSpPr>
          <p:cNvPr id="33" name="Text 23"/>
          <p:cNvSpPr txBox="1"/>
          <p:nvPr/>
        </p:nvSpPr>
        <p:spPr>
          <a:xfrm>
            <a:off x="6391656"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Printable purchase orders</a:t>
            </a:r>
            <a:endParaRPr lang="en-US" sz="1500" dirty="0"/>
          </a:p>
          <a:p>
            <a:pPr indent="0" marL="0">
              <a:spcAft>
                <a:spcPts val="400"/>
              </a:spcAft>
              <a:buNone/>
            </a:pPr>
            <a:r>
              <a:rPr lang="en-US" sz="1400" dirty="0">
                <a:solidFill>
                  <a:schemeClr val="bg2"/>
                </a:solidFill>
              </a:rPr>
              <a:t>Check deliveries at the door</a:t>
            </a:r>
            <a:endParaRPr lang="en-US" sz="1500" dirty="0"/>
          </a:p>
        </p:txBody>
      </p:sp>
      <p:sp>
        <p:nvSpPr>
          <p:cNvPr id="34" name="Benefit card 8"/>
          <p:cNvSpPr/>
          <p:nvPr/>
        </p:nvSpPr>
        <p:spPr>
          <a:xfrm>
            <a:off x="8970264" y="3794760"/>
            <a:ext cx="2587752" cy="2148840"/>
          </a:xfrm>
          <a:prstGeom prst="roundRect">
            <a:avLst>
              <a:gd name="adj" fmla="val 5106"/>
            </a:avLst>
          </a:prstGeom>
          <a:solidFill>
            <a:schemeClr val="accent6">
              <a:alpha val="88000"/>
            </a:schemeClr>
          </a:solidFill>
          <a:ln w="12700">
            <a:solidFill>
              <a:schemeClr val="accent5"/>
            </a:solidFill>
            <a:prstDash val="solid"/>
          </a:ln>
        </p:spPr>
      </p:sp>
      <p:sp>
        <p:nvSpPr>
          <p:cNvPr id="35" name="Benefit 8 circle"/>
          <p:cNvSpPr/>
          <p:nvPr/>
        </p:nvSpPr>
        <p:spPr>
          <a:xfrm>
            <a:off x="9198864" y="4023360"/>
            <a:ext cx="658368" cy="658368"/>
          </a:xfrm>
          <a:prstGeom prst="ellipse">
            <a:avLst/>
          </a:prstGeom>
          <a:solidFill>
            <a:schemeClr val="tx2">
              <a:alpha val="80000"/>
            </a:schemeClr>
          </a:solidFill>
          <a:ln w="19050">
            <a:solidFill>
              <a:schemeClr val="accent2"/>
            </a:solidFill>
            <a:prstDash val="solid"/>
          </a:ln>
        </p:spPr>
      </p:sp>
      <p:pic>
        <p:nvPicPr>
          <p:cNvPr id="36" name="Benefit 8 icon" descr="preencoded.png">    </p:cNvPr>
          <p:cNvPicPr>
            <a:picLocks noChangeAspect="1"/>
          </p:cNvPicPr>
          <p:nvPr/>
        </p:nvPicPr>
        <p:blipFill>
          <a:blip r:embed="rId11"/>
          <a:stretch>
            <a:fillRect/>
          </a:stretch>
        </p:blipFill>
        <p:spPr>
          <a:xfrm>
            <a:off x="9356872" y="4181368"/>
            <a:ext cx="342351" cy="342351"/>
          </a:xfrm>
          <a:prstGeom prst="rect">
            <a:avLst/>
          </a:prstGeom>
        </p:spPr>
      </p:pic>
      <p:sp>
        <p:nvSpPr>
          <p:cNvPr id="37" name="Text 26"/>
          <p:cNvSpPr txBox="1"/>
          <p:nvPr/>
        </p:nvSpPr>
        <p:spPr>
          <a:xfrm>
            <a:off x="9198864" y="4818888"/>
            <a:ext cx="2176272" cy="105156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Messages tab</a:t>
            </a:r>
            <a:endParaRPr lang="en-US" sz="1500" dirty="0"/>
          </a:p>
          <a:p>
            <a:pPr indent="0" marL="0">
              <a:spcAft>
                <a:spcPts val="400"/>
              </a:spcAft>
              <a:buNone/>
            </a:pPr>
            <a:r>
              <a:rPr lang="en-US" sz="1400" dirty="0">
                <a:solidFill>
                  <a:schemeClr val="bg2"/>
                </a:solidFill>
              </a:rPr>
              <a:t>Questions go to head office, in writing</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Getting started: how to log in</a:t>
            </a:r>
            <a:endParaRPr lang="en-US" sz="3400" dirty="0"/>
          </a:p>
        </p:txBody>
      </p:sp>
      <p:sp>
        <p:nvSpPr>
          <p:cNvPr id="6" name="Login step 1"/>
          <p:cNvSpPr/>
          <p:nvPr/>
        </p:nvSpPr>
        <p:spPr>
          <a:xfrm>
            <a:off x="548640" y="141732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7" name="Text 4"/>
          <p:cNvSpPr txBox="1"/>
          <p:nvPr/>
        </p:nvSpPr>
        <p:spPr>
          <a:xfrm>
            <a:off x="731520" y="141732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1</a:t>
            </a:r>
            <a:endParaRPr lang="en-US" sz="3000" dirty="0"/>
          </a:p>
        </p:txBody>
      </p:sp>
      <p:sp>
        <p:nvSpPr>
          <p:cNvPr id="8" name="Text 5"/>
          <p:cNvSpPr txBox="1"/>
          <p:nvPr/>
        </p:nvSpPr>
        <p:spPr>
          <a:xfrm>
            <a:off x="1463040" y="141732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Open the system in your browser</a:t>
            </a:r>
            <a:endParaRPr lang="en-US" sz="1500" dirty="0"/>
          </a:p>
          <a:p>
            <a:pPr indent="0" marL="0">
              <a:spcAft>
                <a:spcPts val="200"/>
              </a:spcAft>
              <a:buNone/>
            </a:pPr>
            <a:r>
              <a:rPr lang="en-US" sz="1400" dirty="0">
                <a:solidFill>
                  <a:schemeClr val="bg2"/>
                </a:solidFill>
              </a:rPr>
              <a:t>[insert live URL]</a:t>
            </a:r>
            <a:endParaRPr lang="en-US" sz="1500" dirty="0"/>
          </a:p>
        </p:txBody>
      </p:sp>
      <p:sp>
        <p:nvSpPr>
          <p:cNvPr id="9" name="Login step 2"/>
          <p:cNvSpPr/>
          <p:nvPr/>
        </p:nvSpPr>
        <p:spPr>
          <a:xfrm>
            <a:off x="548640" y="242316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0" name="Text 7"/>
          <p:cNvSpPr txBox="1"/>
          <p:nvPr/>
        </p:nvSpPr>
        <p:spPr>
          <a:xfrm>
            <a:off x="731520" y="242316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2</a:t>
            </a:r>
            <a:endParaRPr lang="en-US" sz="3000" dirty="0"/>
          </a:p>
        </p:txBody>
      </p:sp>
      <p:sp>
        <p:nvSpPr>
          <p:cNvPr id="11" name="Text 8"/>
          <p:cNvSpPr txBox="1"/>
          <p:nvPr/>
        </p:nvSpPr>
        <p:spPr>
          <a:xfrm>
            <a:off x="1463040" y="242316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Enter your branch username</a:t>
            </a:r>
            <a:endParaRPr lang="en-US" sz="1500" dirty="0"/>
          </a:p>
          <a:p>
            <a:pPr indent="0" marL="0">
              <a:spcAft>
                <a:spcPts val="200"/>
              </a:spcAft>
              <a:buNone/>
            </a:pPr>
            <a:r>
              <a:rPr lang="en-US" sz="1400" dirty="0">
                <a:solidFill>
                  <a:schemeClr val="bg2"/>
                </a:solidFill>
              </a:rPr>
              <a:t>e.g. br01, plus the starting password from head office</a:t>
            </a:r>
            <a:endParaRPr lang="en-US" sz="1500" dirty="0"/>
          </a:p>
        </p:txBody>
      </p:sp>
      <p:sp>
        <p:nvSpPr>
          <p:cNvPr id="12" name="Login step 3"/>
          <p:cNvSpPr/>
          <p:nvPr/>
        </p:nvSpPr>
        <p:spPr>
          <a:xfrm>
            <a:off x="548640" y="342900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3" name="Text 10"/>
          <p:cNvSpPr txBox="1"/>
          <p:nvPr/>
        </p:nvSpPr>
        <p:spPr>
          <a:xfrm>
            <a:off x="731520" y="342900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3</a:t>
            </a:r>
            <a:endParaRPr lang="en-US" sz="3000" dirty="0"/>
          </a:p>
        </p:txBody>
      </p:sp>
      <p:sp>
        <p:nvSpPr>
          <p:cNvPr id="14" name="Text 11"/>
          <p:cNvSpPr txBox="1"/>
          <p:nvPr/>
        </p:nvSpPr>
        <p:spPr>
          <a:xfrm>
            <a:off x="1463040" y="342900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Choose your own password</a:t>
            </a:r>
            <a:endParaRPr lang="en-US" sz="1500" dirty="0"/>
          </a:p>
          <a:p>
            <a:pPr indent="0" marL="0">
              <a:spcAft>
                <a:spcPts val="200"/>
              </a:spcAft>
              <a:buNone/>
            </a:pPr>
            <a:r>
              <a:rPr lang="en-US" sz="1400" dirty="0">
                <a:solidFill>
                  <a:schemeClr val="bg2"/>
                </a:solidFill>
              </a:rPr>
              <a:t>Required at first sign-in before you can continue</a:t>
            </a:r>
            <a:endParaRPr lang="en-US" sz="1500" dirty="0"/>
          </a:p>
        </p:txBody>
      </p:sp>
      <p:sp>
        <p:nvSpPr>
          <p:cNvPr id="15" name="Login step 4"/>
          <p:cNvSpPr/>
          <p:nvPr/>
        </p:nvSpPr>
        <p:spPr>
          <a:xfrm>
            <a:off x="548640" y="4434840"/>
            <a:ext cx="6675120" cy="841248"/>
          </a:xfrm>
          <a:prstGeom prst="roundRect">
            <a:avLst>
              <a:gd name="adj" fmla="val 13043"/>
            </a:avLst>
          </a:prstGeom>
          <a:solidFill>
            <a:schemeClr val="accent6">
              <a:alpha val="88000"/>
            </a:schemeClr>
          </a:solidFill>
          <a:ln w="12700">
            <a:solidFill>
              <a:schemeClr val="accent5"/>
            </a:solidFill>
            <a:prstDash val="solid"/>
          </a:ln>
        </p:spPr>
      </p:sp>
      <p:sp>
        <p:nvSpPr>
          <p:cNvPr id="16" name="Text 13"/>
          <p:cNvSpPr txBox="1"/>
          <p:nvPr/>
        </p:nvSpPr>
        <p:spPr>
          <a:xfrm>
            <a:off x="731520" y="4434840"/>
            <a:ext cx="548640" cy="841248"/>
          </a:xfrm>
          <a:prstGeom prst="rect">
            <a:avLst/>
          </a:prstGeom>
          <a:noFill/>
          <a:ln/>
        </p:spPr>
        <p:txBody>
          <a:bodyPr wrap="square" lIns="0" tIns="0" rIns="0" bIns="0" rtlCol="0" anchor="ctr"/>
          <a:lstStyle/>
          <a:p>
            <a:pPr algn="ctr" indent="0" marL="0">
              <a:spcAft>
                <a:spcPts val="400"/>
              </a:spcAft>
              <a:buNone/>
            </a:pPr>
            <a:r>
              <a:rPr lang="en-US" sz="3000" b="1" dirty="0">
                <a:solidFill>
                  <a:schemeClr val="accent1"/>
                </a:solidFill>
              </a:rPr>
              <a:t>4</a:t>
            </a:r>
            <a:endParaRPr lang="en-US" sz="3000" dirty="0"/>
          </a:p>
        </p:txBody>
      </p:sp>
      <p:sp>
        <p:nvSpPr>
          <p:cNvPr id="17" name="Text 14"/>
          <p:cNvSpPr txBox="1"/>
          <p:nvPr/>
        </p:nvSpPr>
        <p:spPr>
          <a:xfrm>
            <a:off x="1463040" y="4434840"/>
            <a:ext cx="5577840" cy="841248"/>
          </a:xfrm>
          <a:prstGeom prst="rect">
            <a:avLst/>
          </a:prstGeom>
          <a:noFill/>
          <a:ln/>
        </p:spPr>
        <p:txBody>
          <a:bodyPr wrap="square" lIns="0" tIns="0" rIns="0" bIns="0" rtlCol="0" anchor="ctr"/>
          <a:lstStyle/>
          <a:p>
            <a:pPr indent="0" marL="0">
              <a:spcAft>
                <a:spcPts val="200"/>
              </a:spcAft>
              <a:buNone/>
            </a:pPr>
            <a:r>
              <a:rPr lang="en-US" sz="1700" b="1" dirty="0">
                <a:solidFill>
                  <a:schemeClr val="bg1"/>
                </a:solidFill>
              </a:rPr>
              <a:t>Keep it within your team</a:t>
            </a:r>
            <a:endParaRPr lang="en-US" sz="1500" dirty="0"/>
          </a:p>
          <a:p>
            <a:pPr indent="0" marL="0">
              <a:spcAft>
                <a:spcPts val="200"/>
              </a:spcAft>
              <a:buNone/>
            </a:pPr>
            <a:r>
              <a:rPr lang="en-US" sz="1400" dirty="0">
                <a:solidFill>
                  <a:schemeClr val="bg2"/>
                </a:solidFill>
              </a:rPr>
              <a:t>Share it only with your branch team</a:t>
            </a:r>
            <a:endParaRPr lang="en-US" sz="1500" dirty="0"/>
          </a:p>
        </p:txBody>
      </p:sp>
      <p:sp>
        <p:nvSpPr>
          <p:cNvPr id="18" name="Lockout card"/>
          <p:cNvSpPr/>
          <p:nvPr/>
        </p:nvSpPr>
        <p:spPr>
          <a:xfrm>
            <a:off x="7589520" y="1417320"/>
            <a:ext cx="4053535" cy="3858768"/>
          </a:xfrm>
          <a:prstGeom prst="roundRect">
            <a:avLst>
              <a:gd name="adj" fmla="val 2844"/>
            </a:avLst>
          </a:prstGeom>
          <a:solidFill>
            <a:schemeClr val="accent6">
              <a:alpha val="88000"/>
            </a:schemeClr>
          </a:solidFill>
          <a:ln w="12700">
            <a:solidFill>
              <a:schemeClr val="accent4"/>
            </a:solidFill>
            <a:prstDash val="solid"/>
          </a:ln>
        </p:spPr>
      </p:sp>
      <p:sp>
        <p:nvSpPr>
          <p:cNvPr id="19" name="Lockout circle"/>
          <p:cNvSpPr/>
          <p:nvPr/>
        </p:nvSpPr>
        <p:spPr>
          <a:xfrm>
            <a:off x="9159088" y="1691640"/>
            <a:ext cx="914400" cy="914400"/>
          </a:xfrm>
          <a:prstGeom prst="ellipse">
            <a:avLst/>
          </a:prstGeom>
          <a:solidFill>
            <a:schemeClr val="tx2">
              <a:alpha val="80000"/>
            </a:schemeClr>
          </a:solidFill>
          <a:ln w="19050">
            <a:solidFill>
              <a:schemeClr val="accent4"/>
            </a:solidFill>
            <a:prstDash val="solid"/>
          </a:ln>
        </p:spPr>
      </p:sp>
      <p:pic>
        <p:nvPicPr>
          <p:cNvPr id="20" name="Lockout icon" descr="preencoded.png">    </p:cNvPr>
          <p:cNvPicPr>
            <a:picLocks noChangeAspect="1"/>
          </p:cNvPicPr>
          <p:nvPr/>
        </p:nvPicPr>
        <p:blipFill>
          <a:blip r:embed="rId4"/>
          <a:stretch>
            <a:fillRect/>
          </a:stretch>
        </p:blipFill>
        <p:spPr>
          <a:xfrm>
            <a:off x="9378544" y="1911096"/>
            <a:ext cx="475488" cy="475488"/>
          </a:xfrm>
          <a:prstGeom prst="rect">
            <a:avLst/>
          </a:prstGeom>
        </p:spPr>
      </p:pic>
      <p:sp>
        <p:nvSpPr>
          <p:cNvPr id="21" name="Text 17"/>
          <p:cNvSpPr txBox="1"/>
          <p:nvPr/>
        </p:nvSpPr>
        <p:spPr>
          <a:xfrm>
            <a:off x="7589520" y="2697480"/>
            <a:ext cx="2026768" cy="914400"/>
          </a:xfrm>
          <a:prstGeom prst="rect">
            <a:avLst/>
          </a:prstGeom>
          <a:noFill/>
          <a:ln/>
        </p:spPr>
        <p:txBody>
          <a:bodyPr wrap="square" lIns="0" tIns="0" rIns="0" bIns="0" rtlCol="0" anchor="ctr"/>
          <a:lstStyle/>
          <a:p>
            <a:pPr algn="ctr" indent="0" marL="0">
              <a:spcAft>
                <a:spcPts val="400"/>
              </a:spcAft>
              <a:buNone/>
            </a:pPr>
            <a:r>
              <a:rPr lang="en-US" sz="6000" b="1" dirty="0">
                <a:solidFill>
                  <a:schemeClr val="accent4"/>
                </a:solidFill>
              </a:rPr>
              <a:t>5</a:t>
            </a:r>
            <a:endParaRPr lang="en-US" sz="6000" dirty="0"/>
          </a:p>
        </p:txBody>
      </p:sp>
      <p:sp>
        <p:nvSpPr>
          <p:cNvPr id="22" name="Text 18"/>
          <p:cNvSpPr txBox="1"/>
          <p:nvPr/>
        </p:nvSpPr>
        <p:spPr>
          <a:xfrm>
            <a:off x="9616288" y="2697480"/>
            <a:ext cx="2026768" cy="914400"/>
          </a:xfrm>
          <a:prstGeom prst="rect">
            <a:avLst/>
          </a:prstGeom>
          <a:noFill/>
          <a:ln/>
        </p:spPr>
        <p:txBody>
          <a:bodyPr wrap="square" lIns="0" tIns="0" rIns="0" bIns="0" rtlCol="0" anchor="ctr"/>
          <a:lstStyle/>
          <a:p>
            <a:pPr algn="ctr" indent="0" marL="0">
              <a:spcAft>
                <a:spcPts val="400"/>
              </a:spcAft>
              <a:buNone/>
            </a:pPr>
            <a:r>
              <a:rPr lang="en-US" sz="6000" b="1" dirty="0">
                <a:solidFill>
                  <a:schemeClr val="accent4"/>
                </a:solidFill>
              </a:rPr>
              <a:t>15</a:t>
            </a:r>
            <a:endParaRPr lang="en-US" sz="6000" dirty="0"/>
          </a:p>
        </p:txBody>
      </p:sp>
      <p:sp>
        <p:nvSpPr>
          <p:cNvPr id="23" name="Text 19"/>
          <p:cNvSpPr txBox="1"/>
          <p:nvPr/>
        </p:nvSpPr>
        <p:spPr>
          <a:xfrm>
            <a:off x="7589520" y="3611880"/>
            <a:ext cx="2026768" cy="320040"/>
          </a:xfrm>
          <a:prstGeom prst="rect">
            <a:avLst/>
          </a:prstGeom>
          <a:noFill/>
          <a:ln/>
        </p:spPr>
        <p:txBody>
          <a:bodyPr wrap="square" lIns="0" tIns="0" rIns="0" bIns="0" rtlCol="0" anchor="t"/>
          <a:lstStyle/>
          <a:p>
            <a:pPr algn="ctr" indent="0" marL="0">
              <a:spcAft>
                <a:spcPts val="400"/>
              </a:spcAft>
              <a:buNone/>
            </a:pPr>
            <a:r>
              <a:rPr lang="en-US" sz="1400" dirty="0">
                <a:solidFill>
                  <a:schemeClr val="bg2"/>
                </a:solidFill>
              </a:rPr>
              <a:t>wrong passwords</a:t>
            </a:r>
            <a:endParaRPr lang="en-US" sz="1400" dirty="0"/>
          </a:p>
        </p:txBody>
      </p:sp>
      <p:sp>
        <p:nvSpPr>
          <p:cNvPr id="24" name="Text 20"/>
          <p:cNvSpPr txBox="1"/>
          <p:nvPr/>
        </p:nvSpPr>
        <p:spPr>
          <a:xfrm>
            <a:off x="9616288" y="3611880"/>
            <a:ext cx="2026768" cy="320040"/>
          </a:xfrm>
          <a:prstGeom prst="rect">
            <a:avLst/>
          </a:prstGeom>
          <a:noFill/>
          <a:ln/>
        </p:spPr>
        <p:txBody>
          <a:bodyPr wrap="square" lIns="0" tIns="0" rIns="0" bIns="0" rtlCol="0" anchor="t"/>
          <a:lstStyle/>
          <a:p>
            <a:pPr algn="ctr" indent="0" marL="0">
              <a:spcAft>
                <a:spcPts val="400"/>
              </a:spcAft>
              <a:buNone/>
            </a:pPr>
            <a:r>
              <a:rPr lang="en-US" sz="1400" dirty="0">
                <a:solidFill>
                  <a:schemeClr val="bg2"/>
                </a:solidFill>
              </a:rPr>
              <a:t>minutes locked</a:t>
            </a:r>
            <a:endParaRPr lang="en-US" sz="1400" dirty="0"/>
          </a:p>
        </p:txBody>
      </p:sp>
      <p:sp>
        <p:nvSpPr>
          <p:cNvPr id="25" name="Text 21"/>
          <p:cNvSpPr txBox="1"/>
          <p:nvPr/>
        </p:nvSpPr>
        <p:spPr>
          <a:xfrm>
            <a:off x="7863840" y="4206240"/>
            <a:ext cx="3504895" cy="731520"/>
          </a:xfrm>
          <a:prstGeom prst="rect">
            <a:avLst/>
          </a:prstGeom>
          <a:noFill/>
          <a:ln/>
        </p:spPr>
        <p:txBody>
          <a:bodyPr wrap="square" lIns="0" tIns="0" rIns="0" bIns="0" rtlCol="0" anchor="ctr"/>
          <a:lstStyle/>
          <a:p>
            <a:pPr algn="ctr" indent="0" marL="0">
              <a:spcAft>
                <a:spcPts val="400"/>
              </a:spcAft>
              <a:buNone/>
            </a:pPr>
            <a:r>
              <a:rPr lang="en-US" sz="1600" dirty="0">
                <a:solidFill>
                  <a:schemeClr val="bg1"/>
                </a:solidFill>
              </a:rPr>
              <a:t>Wait it out, or call support.</a:t>
            </a:r>
            <a:endParaRPr lang="en-US" sz="1600" dirty="0"/>
          </a:p>
        </p:txBody>
      </p:sp>
      <p:sp>
        <p:nvSpPr>
          <p:cNvPr id="26" name="Benefit pill"/>
          <p:cNvSpPr/>
          <p:nvPr/>
        </p:nvSpPr>
        <p:spPr>
          <a:xfrm>
            <a:off x="548640" y="5596128"/>
            <a:ext cx="11094415" cy="566928"/>
          </a:xfrm>
          <a:prstGeom prst="roundRect">
            <a:avLst>
              <a:gd name="adj" fmla="val 19355"/>
            </a:avLst>
          </a:prstGeom>
          <a:solidFill>
            <a:schemeClr val="accent2">
              <a:alpha val="28000"/>
            </a:schemeClr>
          </a:solidFill>
          <a:ln w="12700">
            <a:solidFill>
              <a:schemeClr val="accent2"/>
            </a:solidFill>
            <a:prstDash val="solid"/>
          </a:ln>
        </p:spPr>
      </p:sp>
      <p:pic>
        <p:nvPicPr>
          <p:cNvPr id="27" name="Benefit icon" descr="preencoded.png">    </p:cNvPr>
          <p:cNvPicPr>
            <a:picLocks noChangeAspect="1"/>
          </p:cNvPicPr>
          <p:nvPr/>
        </p:nvPicPr>
        <p:blipFill>
          <a:blip r:embed="rId5"/>
          <a:stretch>
            <a:fillRect/>
          </a:stretch>
        </p:blipFill>
        <p:spPr>
          <a:xfrm>
            <a:off x="749808" y="5733288"/>
            <a:ext cx="292608" cy="292608"/>
          </a:xfrm>
          <a:prstGeom prst="rect">
            <a:avLst/>
          </a:prstGeom>
        </p:spPr>
      </p:pic>
      <p:sp>
        <p:nvSpPr>
          <p:cNvPr id="28" name="Text 23"/>
          <p:cNvSpPr txBox="1"/>
          <p:nvPr/>
        </p:nvSpPr>
        <p:spPr>
          <a:xfrm>
            <a:off x="1188720" y="5596128"/>
            <a:ext cx="10271455" cy="566928"/>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Benefit:  </a:t>
            </a:r>
            <a:pPr indent="0" marL="0">
              <a:spcAft>
                <a:spcPts val="400"/>
              </a:spcAft>
              <a:buNone/>
            </a:pPr>
            <a:r>
              <a:rPr lang="en-US" sz="1600" dirty="0">
                <a:solidFill>
                  <a:schemeClr val="bg1"/>
                </a:solidFill>
              </a:rPr>
              <a:t>Your own password keeps your branch's orders safe.</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Background dimmer"/>
          <p:cNvSpPr/>
          <p:nvPr/>
        </p:nvSpPr>
        <p:spPr>
          <a:xfrm>
            <a:off x="0" y="0"/>
            <a:ext cx="12191695" cy="6858000"/>
          </a:xfrm>
          <a:prstGeom prst="rect">
            <a:avLst/>
          </a:prstGeom>
          <a:solidFill>
            <a:schemeClr val="tx2">
              <a:alpha val="70000"/>
            </a:schemeClr>
          </a:solidFill>
          <a:ln/>
        </p:spPr>
      </p:sp>
      <p:sp>
        <p:nvSpPr>
          <p:cNvPr id="4" name="Footer"/>
          <p:cNvSpPr txBox="1"/>
          <p:nvPr/>
        </p:nvSpPr>
        <p:spPr>
          <a:xfrm>
            <a:off x="548640" y="6382512"/>
            <a:ext cx="5943600" cy="274320"/>
          </a:xfrm>
          <a:prstGeom prst="rect">
            <a:avLst/>
          </a:prstGeom>
          <a:noFill/>
          <a:ln/>
        </p:spPr>
        <p:txBody>
          <a:bodyPr wrap="square" lIns="0" tIns="0" rIns="0" bIns="0" rtlCol="0" anchor="ctr"/>
          <a:lstStyle/>
          <a:p>
            <a:pPr indent="0" marL="0">
              <a:buNone/>
            </a:pPr>
            <a:r>
              <a:rPr lang="en-US" sz="1100" dirty="0">
                <a:solidFill>
                  <a:schemeClr val="bg2"/>
                </a:solidFill>
              </a:rPr>
              <a:t>SPAR Sri Lanka  ·  Fresh Procurement  ·  Branch User Training</a:t>
            </a:r>
            <a:endParaRPr lang="en-US" sz="1100" dirty="0"/>
          </a:p>
        </p:txBody>
      </p:sp>
      <p:sp>
        <p:nvSpPr>
          <p:cNvPr id="5"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rPr>
              <a:t>Where to get help</a:t>
            </a:r>
            <a:endParaRPr lang="en-US" sz="3400" dirty="0"/>
          </a:p>
        </p:txBody>
      </p:sp>
      <p:sp>
        <p:nvSpPr>
          <p:cNvPr id="6" name="Help card Messages tab"/>
          <p:cNvSpPr/>
          <p:nvPr/>
        </p:nvSpPr>
        <p:spPr>
          <a:xfrm>
            <a:off x="548640"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7" name="Help Messages tab circle"/>
          <p:cNvSpPr/>
          <p:nvPr/>
        </p:nvSpPr>
        <p:spPr>
          <a:xfrm>
            <a:off x="1339596" y="1828800"/>
            <a:ext cx="1005840" cy="1005840"/>
          </a:xfrm>
          <a:prstGeom prst="ellipse">
            <a:avLst/>
          </a:prstGeom>
          <a:solidFill>
            <a:schemeClr val="tx2">
              <a:alpha val="80000"/>
            </a:schemeClr>
          </a:solidFill>
          <a:ln w="19050">
            <a:solidFill>
              <a:schemeClr val="accent1"/>
            </a:solidFill>
            <a:prstDash val="solid"/>
          </a:ln>
        </p:spPr>
      </p:sp>
      <p:pic>
        <p:nvPicPr>
          <p:cNvPr id="8" name="Help Messages tab icon" descr="preencoded.png">    </p:cNvPr>
          <p:cNvPicPr>
            <a:picLocks noChangeAspect="1"/>
          </p:cNvPicPr>
          <p:nvPr/>
        </p:nvPicPr>
        <p:blipFill>
          <a:blip r:embed="rId4"/>
          <a:stretch>
            <a:fillRect/>
          </a:stretch>
        </p:blipFill>
        <p:spPr>
          <a:xfrm>
            <a:off x="1580998" y="2070202"/>
            <a:ext cx="523037" cy="523037"/>
          </a:xfrm>
          <a:prstGeom prst="rect">
            <a:avLst/>
          </a:prstGeom>
        </p:spPr>
      </p:pic>
      <p:sp>
        <p:nvSpPr>
          <p:cNvPr id="9" name="Text 5"/>
          <p:cNvSpPr txBox="1"/>
          <p:nvPr/>
        </p:nvSpPr>
        <p:spPr>
          <a:xfrm>
            <a:off x="731520"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Messages tab</a:t>
            </a:r>
            <a:endParaRPr lang="en-US" sz="1900" dirty="0"/>
          </a:p>
        </p:txBody>
      </p:sp>
      <p:sp>
        <p:nvSpPr>
          <p:cNvPr id="10" name="Text 6"/>
          <p:cNvSpPr txBox="1"/>
          <p:nvPr/>
        </p:nvSpPr>
        <p:spPr>
          <a:xfrm>
            <a:off x="777240"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Chat with head office inside the system. A red badge on the bell shows unread replies.</a:t>
            </a:r>
            <a:endParaRPr lang="en-US" sz="1500" dirty="0"/>
          </a:p>
        </p:txBody>
      </p:sp>
      <p:sp>
        <p:nvSpPr>
          <p:cNvPr id="11" name="Help card Branch Guidelines"/>
          <p:cNvSpPr/>
          <p:nvPr/>
        </p:nvSpPr>
        <p:spPr>
          <a:xfrm>
            <a:off x="3355848"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12" name="Help Branch Guidelines circle"/>
          <p:cNvSpPr/>
          <p:nvPr/>
        </p:nvSpPr>
        <p:spPr>
          <a:xfrm>
            <a:off x="4146804" y="1828800"/>
            <a:ext cx="1005840" cy="1005840"/>
          </a:xfrm>
          <a:prstGeom prst="ellipse">
            <a:avLst/>
          </a:prstGeom>
          <a:solidFill>
            <a:schemeClr val="tx2">
              <a:alpha val="80000"/>
            </a:schemeClr>
          </a:solidFill>
          <a:ln w="19050">
            <a:solidFill>
              <a:schemeClr val="accent1"/>
            </a:solidFill>
            <a:prstDash val="solid"/>
          </a:ln>
        </p:spPr>
      </p:sp>
      <p:pic>
        <p:nvPicPr>
          <p:cNvPr id="13" name="Help Branch Guidelines icon" descr="preencoded.png">    </p:cNvPr>
          <p:cNvPicPr>
            <a:picLocks noChangeAspect="1"/>
          </p:cNvPicPr>
          <p:nvPr/>
        </p:nvPicPr>
        <p:blipFill>
          <a:blip r:embed="rId5"/>
          <a:stretch>
            <a:fillRect/>
          </a:stretch>
        </p:blipFill>
        <p:spPr>
          <a:xfrm>
            <a:off x="4388206" y="2070202"/>
            <a:ext cx="523037" cy="523037"/>
          </a:xfrm>
          <a:prstGeom prst="rect">
            <a:avLst/>
          </a:prstGeom>
        </p:spPr>
      </p:pic>
      <p:sp>
        <p:nvSpPr>
          <p:cNvPr id="14" name="Text 9"/>
          <p:cNvSpPr txBox="1"/>
          <p:nvPr/>
        </p:nvSpPr>
        <p:spPr>
          <a:xfrm>
            <a:off x="3538728"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Branch Guidelines</a:t>
            </a:r>
            <a:endParaRPr lang="en-US" sz="1900" dirty="0"/>
          </a:p>
        </p:txBody>
      </p:sp>
      <p:sp>
        <p:nvSpPr>
          <p:cNvPr id="15" name="Text 10"/>
          <p:cNvSpPr txBox="1"/>
          <p:nvPr/>
        </p:nvSpPr>
        <p:spPr>
          <a:xfrm>
            <a:off x="3584448"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The ordering rules, in Sinhala and English, available any time.</a:t>
            </a:r>
            <a:endParaRPr lang="en-US" sz="1500" dirty="0"/>
          </a:p>
        </p:txBody>
      </p:sp>
      <p:sp>
        <p:nvSpPr>
          <p:cNvPr id="16" name="Help card Support phone"/>
          <p:cNvSpPr/>
          <p:nvPr/>
        </p:nvSpPr>
        <p:spPr>
          <a:xfrm>
            <a:off x="6163056" y="1463040"/>
            <a:ext cx="2587752" cy="3840480"/>
          </a:xfrm>
          <a:prstGeom prst="roundRect">
            <a:avLst>
              <a:gd name="adj" fmla="val 4240"/>
            </a:avLst>
          </a:prstGeom>
          <a:solidFill>
            <a:schemeClr val="accent6">
              <a:alpha val="88000"/>
            </a:schemeClr>
          </a:solidFill>
          <a:ln w="25400">
            <a:solidFill>
              <a:schemeClr val="accent1"/>
            </a:solidFill>
            <a:prstDash val="solid"/>
          </a:ln>
        </p:spPr>
      </p:sp>
      <p:sp>
        <p:nvSpPr>
          <p:cNvPr id="17" name="Help Support phone circle"/>
          <p:cNvSpPr/>
          <p:nvPr/>
        </p:nvSpPr>
        <p:spPr>
          <a:xfrm>
            <a:off x="6954012" y="1828800"/>
            <a:ext cx="1005840" cy="1005840"/>
          </a:xfrm>
          <a:prstGeom prst="ellipse">
            <a:avLst/>
          </a:prstGeom>
          <a:solidFill>
            <a:schemeClr val="tx2">
              <a:alpha val="80000"/>
            </a:schemeClr>
          </a:solidFill>
          <a:ln w="19050">
            <a:solidFill>
              <a:schemeClr val="accent1"/>
            </a:solidFill>
            <a:prstDash val="solid"/>
          </a:ln>
        </p:spPr>
      </p:sp>
      <p:pic>
        <p:nvPicPr>
          <p:cNvPr id="18" name="Help Support phone icon" descr="preencoded.png">    </p:cNvPr>
          <p:cNvPicPr>
            <a:picLocks noChangeAspect="1"/>
          </p:cNvPicPr>
          <p:nvPr/>
        </p:nvPicPr>
        <p:blipFill>
          <a:blip r:embed="rId6"/>
          <a:stretch>
            <a:fillRect/>
          </a:stretch>
        </p:blipFill>
        <p:spPr>
          <a:xfrm>
            <a:off x="7195414" y="2070202"/>
            <a:ext cx="523037" cy="523037"/>
          </a:xfrm>
          <a:prstGeom prst="rect">
            <a:avLst/>
          </a:prstGeom>
        </p:spPr>
      </p:pic>
      <p:sp>
        <p:nvSpPr>
          <p:cNvPr id="19" name="Text 13"/>
          <p:cNvSpPr txBox="1"/>
          <p:nvPr/>
        </p:nvSpPr>
        <p:spPr>
          <a:xfrm>
            <a:off x="6345936"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Support phone</a:t>
            </a:r>
            <a:endParaRPr lang="en-US" sz="1900" dirty="0"/>
          </a:p>
        </p:txBody>
      </p:sp>
      <p:sp>
        <p:nvSpPr>
          <p:cNvPr id="20" name="Text 14"/>
          <p:cNvSpPr txBox="1"/>
          <p:nvPr/>
        </p:nvSpPr>
        <p:spPr>
          <a:xfrm>
            <a:off x="6391656" y="3611880"/>
            <a:ext cx="2130552" cy="1554480"/>
          </a:xfrm>
          <a:prstGeom prst="rect">
            <a:avLst/>
          </a:prstGeom>
          <a:noFill/>
          <a:ln/>
        </p:spPr>
        <p:txBody>
          <a:bodyPr wrap="square" lIns="0" tIns="0" rIns="0" bIns="0" rtlCol="0" anchor="t"/>
          <a:lstStyle/>
          <a:p>
            <a:pPr algn="ctr" indent="0" marL="0">
              <a:spcAft>
                <a:spcPts val="400"/>
              </a:spcAft>
              <a:buNone/>
            </a:pPr>
            <a:r>
              <a:rPr lang="en-US" sz="2200" b="1" dirty="0">
                <a:solidFill>
                  <a:schemeClr val="accent1"/>
                </a:solidFill>
              </a:rPr>
              <a:t>076 562 2317</a:t>
            </a:r>
            <a:endParaRPr lang="en-US" sz="1500" dirty="0"/>
          </a:p>
          <a:p>
            <a:pPr algn="ctr" indent="0" marL="0">
              <a:spcAft>
                <a:spcPts val="400"/>
              </a:spcAft>
              <a:buNone/>
            </a:pPr>
            <a:r>
              <a:rPr lang="en-US" sz="1500" dirty="0">
                <a:solidFill>
                  <a:schemeClr val="bg2"/>
                </a:solidFill>
              </a:rPr>
              <a:t>Shown in Branch Guidelines; head office can update it.</a:t>
            </a:r>
            <a:endParaRPr lang="en-US" sz="1500" dirty="0"/>
          </a:p>
        </p:txBody>
      </p:sp>
      <p:sp>
        <p:nvSpPr>
          <p:cNvPr id="21" name="Help card Training materials"/>
          <p:cNvSpPr/>
          <p:nvPr/>
        </p:nvSpPr>
        <p:spPr>
          <a:xfrm>
            <a:off x="8970264" y="1463040"/>
            <a:ext cx="2587752" cy="3840480"/>
          </a:xfrm>
          <a:prstGeom prst="roundRect">
            <a:avLst>
              <a:gd name="adj" fmla="val 4240"/>
            </a:avLst>
          </a:prstGeom>
          <a:solidFill>
            <a:schemeClr val="accent6">
              <a:alpha val="88000"/>
            </a:schemeClr>
          </a:solidFill>
          <a:ln w="12700">
            <a:solidFill>
              <a:schemeClr val="accent5"/>
            </a:solidFill>
            <a:prstDash val="solid"/>
          </a:ln>
        </p:spPr>
      </p:sp>
      <p:sp>
        <p:nvSpPr>
          <p:cNvPr id="22" name="Help Training materials circle"/>
          <p:cNvSpPr/>
          <p:nvPr/>
        </p:nvSpPr>
        <p:spPr>
          <a:xfrm>
            <a:off x="9761220" y="1828800"/>
            <a:ext cx="1005840" cy="1005840"/>
          </a:xfrm>
          <a:prstGeom prst="ellipse">
            <a:avLst/>
          </a:prstGeom>
          <a:solidFill>
            <a:schemeClr val="tx2">
              <a:alpha val="80000"/>
            </a:schemeClr>
          </a:solidFill>
          <a:ln w="19050">
            <a:solidFill>
              <a:schemeClr val="accent1"/>
            </a:solidFill>
            <a:prstDash val="solid"/>
          </a:ln>
        </p:spPr>
      </p:sp>
      <p:pic>
        <p:nvPicPr>
          <p:cNvPr id="23" name="Help Training materials icon" descr="preencoded.png">    </p:cNvPr>
          <p:cNvPicPr>
            <a:picLocks noChangeAspect="1"/>
          </p:cNvPicPr>
          <p:nvPr/>
        </p:nvPicPr>
        <p:blipFill>
          <a:blip r:embed="rId7"/>
          <a:stretch>
            <a:fillRect/>
          </a:stretch>
        </p:blipFill>
        <p:spPr>
          <a:xfrm>
            <a:off x="10002622" y="2070202"/>
            <a:ext cx="523037" cy="523037"/>
          </a:xfrm>
          <a:prstGeom prst="rect">
            <a:avLst/>
          </a:prstGeom>
        </p:spPr>
      </p:pic>
      <p:sp>
        <p:nvSpPr>
          <p:cNvPr id="24" name="Text 17"/>
          <p:cNvSpPr txBox="1"/>
          <p:nvPr/>
        </p:nvSpPr>
        <p:spPr>
          <a:xfrm>
            <a:off x="9153144" y="3063240"/>
            <a:ext cx="2221992" cy="457200"/>
          </a:xfrm>
          <a:prstGeom prst="rect">
            <a:avLst/>
          </a:prstGeom>
          <a:noFill/>
          <a:ln/>
        </p:spPr>
        <p:txBody>
          <a:bodyPr wrap="square" lIns="0" tIns="0" rIns="0" bIns="0" rtlCol="0" anchor="t"/>
          <a:lstStyle/>
          <a:p>
            <a:pPr algn="ctr" indent="0" marL="0">
              <a:spcAft>
                <a:spcPts val="400"/>
              </a:spcAft>
              <a:buNone/>
            </a:pPr>
            <a:r>
              <a:rPr lang="en-US" sz="1900" b="1" dirty="0">
                <a:solidFill>
                  <a:schemeClr val="bg1"/>
                </a:solidFill>
              </a:rPr>
              <a:t>Training materials</a:t>
            </a:r>
            <a:endParaRPr lang="en-US" sz="1900" dirty="0"/>
          </a:p>
        </p:txBody>
      </p:sp>
      <p:sp>
        <p:nvSpPr>
          <p:cNvPr id="25" name="Text 18"/>
          <p:cNvSpPr txBox="1"/>
          <p:nvPr/>
        </p:nvSpPr>
        <p:spPr>
          <a:xfrm>
            <a:off x="9198864" y="3611880"/>
            <a:ext cx="2130552" cy="1554480"/>
          </a:xfrm>
          <a:prstGeom prst="rect">
            <a:avLst/>
          </a:prstGeom>
          <a:noFill/>
          <a:ln/>
        </p:spPr>
        <p:txBody>
          <a:bodyPr wrap="square" lIns="0" tIns="0" rIns="0" bIns="0" rtlCol="0" anchor="t"/>
          <a:lstStyle/>
          <a:p>
            <a:pPr algn="ctr" indent="0" marL="0">
              <a:spcAft>
                <a:spcPts val="400"/>
              </a:spcAft>
              <a:buNone/>
            </a:pPr>
            <a:r>
              <a:rPr lang="en-US" sz="1500" dirty="0">
                <a:solidFill>
                  <a:schemeClr val="bg2"/>
                </a:solidFill>
              </a:rPr>
              <a:t>This deck and a quick-reference card: [insert link]</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FE6EC"/>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Animated backgroun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
        <p:nvSpPr>
          <p:cNvPr id="3" name="Closing panel"/>
          <p:cNvSpPr/>
          <p:nvPr/>
        </p:nvSpPr>
        <p:spPr>
          <a:xfrm>
            <a:off x="274320" y="1234440"/>
            <a:ext cx="7315200" cy="4206240"/>
          </a:xfrm>
          <a:prstGeom prst="roundRect">
            <a:avLst>
              <a:gd name="adj" fmla="val 4348"/>
            </a:avLst>
          </a:prstGeom>
          <a:solidFill>
            <a:schemeClr val="tx2">
              <a:alpha val="70000"/>
            </a:schemeClr>
          </a:solidFill>
          <a:ln/>
        </p:spPr>
      </p:sp>
      <p:sp>
        <p:nvSpPr>
          <p:cNvPr id="4" name="Text 0"/>
          <p:cNvSpPr/>
          <p:nvPr>
            <p:ph idx="100" type="title" hasCustomPrompt="1"/>
          </p:nvPr>
        </p:nvSpPr>
        <p:spPr>
          <a:xfrm>
            <a:off x="548640" y="1828800"/>
            <a:ext cx="6766560" cy="1737360"/>
          </a:xfrm>
          <a:prstGeom prst="rect">
            <a:avLst/>
          </a:prstGeom>
          <a:noFill/>
          <a:ln/>
        </p:spPr>
        <p:txBody>
          <a:bodyPr wrap="square" lIns="0" tIns="0" rIns="0" bIns="0" rtlCol="0" anchor="b"/>
          <a:lstStyle/>
          <a:p>
            <a:pPr algn="l" indent="0" marL="0">
              <a:buNone/>
            </a:pPr>
            <a:r>
              <a:rPr lang="en-US" sz="4000" b="1" dirty="0">
                <a:solidFill>
                  <a:schemeClr val="bg1"/>
                </a:solidFill>
              </a:rPr>
              <a:t>Questions?</a:t>
            </a:r>
            <a:endParaRPr lang="en-US" sz="4000" dirty="0"/>
          </a:p>
        </p:txBody>
      </p:sp>
      <p:sp>
        <p:nvSpPr>
          <p:cNvPr id="5" name="Text 0"/>
          <p:cNvSpPr/>
          <p:nvPr>
            <p:ph idx="101" type="body" hasCustomPrompt="1"/>
          </p:nvPr>
        </p:nvSpPr>
        <p:spPr>
          <a:xfrm>
            <a:off x="548640" y="3703320"/>
            <a:ext cx="6766560" cy="548640"/>
          </a:xfrm>
          <a:prstGeom prst="rect">
            <a:avLst/>
          </a:prstGeom>
          <a:noFill/>
          <a:ln/>
        </p:spPr>
        <p:txBody>
          <a:bodyPr wrap="square" lIns="0" tIns="0" rIns="0" bIns="0" rtlCol="0"/>
          <a:lstStyle/>
          <a:p>
            <a:pPr algn="l" indent="0" marL="0">
              <a:buNone/>
            </a:pPr>
            <a:r>
              <a:rPr lang="en-US" sz="2400" dirty="0">
                <a:solidFill>
                  <a:schemeClr val="accent1"/>
                </a:solidFill>
              </a:rPr>
              <a:t>Use the Messages tab any time</a:t>
            </a:r>
            <a:endParaRPr lang="en-US" sz="2400" dirty="0"/>
          </a:p>
        </p:txBody>
      </p:sp>
      <p:sp>
        <p:nvSpPr>
          <p:cNvPr id="6" name="Text 3"/>
          <p:cNvSpPr txBox="1"/>
          <p:nvPr/>
        </p:nvSpPr>
        <p:spPr>
          <a:xfrm>
            <a:off x="548640" y="4572000"/>
            <a:ext cx="6766560" cy="4114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Support: </a:t>
            </a:r>
            <a:pPr indent="0" marL="0">
              <a:spcAft>
                <a:spcPts val="400"/>
              </a:spcAft>
              <a:buNone/>
            </a:pPr>
            <a:r>
              <a:rPr lang="en-US" sz="2000" dirty="0">
                <a:solidFill>
                  <a:schemeClr val="bg1"/>
                </a:solidFill>
              </a:rPr>
              <a:t>076 562 2317</a:t>
            </a:r>
            <a:endParaRPr lang="en-US" sz="2000" dirty="0"/>
          </a:p>
        </p:txBody>
      </p:sp>
    </p:spTree>
  </p:cSld>
  <p:clrMapOvr>
    <a:masterClrMapping/>
  </p:clrMapOvr>
  <p:transition spd="med">
    <p:fade/>
  </p:transition>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8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theme/theme1.xml><?xml version="1.0" encoding="utf-8"?>
<a:theme xmlns:a="http://schemas.openxmlformats.org/drawingml/2006/main" name="SPAR Fresh Circuit">
  <a:themeElements>
    <a:clrScheme name="SPAR Fresh Circuit">
      <a:dk1>
        <a:srgbClr val="0B1E26"/>
      </a:dk1>
      <a:lt1>
        <a:srgbClr val="FFFFFF"/>
      </a:lt1>
      <a:dk2>
        <a:srgbClr val="05131A"/>
      </a:dk2>
      <a:lt2>
        <a:srgbClr val="BFE6EC"/>
      </a:lt2>
      <a:accent1>
        <a:srgbClr val="3FD8E8"/>
      </a:accent1>
      <a:accent2>
        <a:srgbClr val="2BB673"/>
      </a:accent2>
      <a:accent3>
        <a:srgbClr val="FF4D5E"/>
      </a:accent3>
      <a:accent4>
        <a:srgbClr val="F2B33D"/>
      </a:accent4>
      <a:accent5>
        <a:srgbClr val="1F7A8C"/>
      </a:accent5>
      <a:accent6>
        <a:srgbClr val="0E3440"/>
      </a:accent6>
      <a:hlink>
        <a:srgbClr val="3FD8E8"/>
      </a:hlink>
      <a:folHlink>
        <a:srgbClr val="7FE3EE"/>
      </a:folHlink>
    </a:clrScheme>
    <a:fontScheme name="SPAR Fresh Circui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SPAR Sri Lanka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 Fresh Procurement — Branch User Training</dc:title>
  <dc:subject>PptxGenJS Presentation</dc:subject>
  <dc:creator>SPAR Fresh Procurement</dc:creator>
  <cp:lastModifiedBy>SPAR Fresh Procurement</cp:lastModifiedBy>
  <cp:revision>1</cp:revision>
  <dcterms:created xsi:type="dcterms:W3CDTF">2026-10-07T07:21:25Z</dcterms:created>
  <dcterms:modified xsi:type="dcterms:W3CDTF">2026-10-07T07:21:25Z</dcterms:modified>
</cp:coreProperties>
</file>